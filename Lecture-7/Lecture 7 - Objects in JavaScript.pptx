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2" r:id="rId3"/>
    <p:sldId id="271" r:id="rId4"/>
    <p:sldId id="270" r:id="rId5"/>
    <p:sldId id="272" r:id="rId6"/>
    <p:sldId id="273" r:id="rId7"/>
    <p:sldId id="263" r:id="rId8"/>
    <p:sldId id="264" r:id="rId9"/>
    <p:sldId id="266" r:id="rId10"/>
    <p:sldId id="277" r:id="rId11"/>
    <p:sldId id="278" r:id="rId12"/>
    <p:sldId id="279" r:id="rId13"/>
    <p:sldId id="280" r:id="rId14"/>
    <p:sldId id="281" r:id="rId15"/>
    <p:sldId id="282" r:id="rId16"/>
    <p:sldId id="276" r:id="rId17"/>
  </p:sldIdLst>
  <p:sldSz cx="12192000" cy="6858000"/>
  <p:notesSz cx="6858000" cy="9144000"/>
  <p:defaultTextStyle>
    <a:defPPr>
      <a:defRPr lang="en-U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843"/>
    <p:restoredTop sz="95853"/>
  </p:normalViewPr>
  <p:slideViewPr>
    <p:cSldViewPr snapToGrid="0">
      <p:cViewPr varScale="1">
        <p:scale>
          <a:sx n="93" d="100"/>
          <a:sy n="93" d="100"/>
        </p:scale>
        <p:origin x="216" y="52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2EDDB-4AC0-27FB-4EA9-E64264A2D1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Z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B75810-866D-E389-78F0-F4F64418DF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D7AEA1-0CFA-0DF9-77BD-F784C005B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E210-D269-D54C-985C-31A732180E63}" type="datetimeFigureOut">
              <a:rPr lang="en-UZ" smtClean="0"/>
              <a:t>10/03/25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542071-6737-A358-6ABF-2942E25EA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DB7606-F20F-0BAD-9330-8799E148D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9694288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010B6-9166-4D7D-5A46-9A01667E7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DDC87-6809-FCC2-6AEC-5891376F27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139DC-791F-111F-E7EB-927FC109D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E210-D269-D54C-985C-31A732180E63}" type="datetimeFigureOut">
              <a:rPr lang="en-UZ" smtClean="0"/>
              <a:t>10/03/25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B95834-D745-F262-5D51-DA52594CB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2F7291-3321-7986-DC53-8FAA708C9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1224130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E0A42-830B-E54F-9554-9B6A87941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613B47-0672-51E5-C880-8784A93D09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016C90-A121-B950-45DE-C650806B0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E210-D269-D54C-985C-31A732180E63}" type="datetimeFigureOut">
              <a:rPr lang="en-UZ" smtClean="0"/>
              <a:t>10/03/25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04404-379F-6391-C8B6-C2F1282F2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263C48-540C-5CC3-3D0E-655734C13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421067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D9CE5-271E-5EE4-D1B5-088699439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6AE7D-2E8D-194A-A8E8-B4036EBD2C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9A4AD1-192E-89D8-A773-2B1906341D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1E93A2-037B-757E-9991-0759B77BC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E210-D269-D54C-985C-31A732180E63}" type="datetimeFigureOut">
              <a:rPr lang="en-UZ" smtClean="0"/>
              <a:t>10/03/25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05F9BC-30B6-71FD-32E3-51C8CF188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673C3A-7AD9-7E81-23A6-1920CD438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1119601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9DB1B-0CA4-2108-BFB6-CE0CA1D33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59069D-8178-04F2-CACC-D62E10BF4D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51E179-B829-D26C-4864-D9CE34E1D2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FD494-CBF9-A7E9-9423-3F9F705A67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88A331-E7D0-FA32-ACBD-F956CEBDF8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ECC135-228E-F67B-C804-F9C504D4E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E210-D269-D54C-985C-31A732180E63}" type="datetimeFigureOut">
              <a:rPr lang="en-UZ" smtClean="0"/>
              <a:t>10/03/25</a:t>
            </a:fld>
            <a:endParaRPr lang="en-U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05FA9B-3525-2FE8-8187-6D69AC524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7DD6FE-E4ED-BF96-23BB-05DB203A4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512622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0BE68-335C-2A00-C99A-95B80E787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F6DA29-43A2-F2F4-1272-4FE63C4F8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E210-D269-D54C-985C-31A732180E63}" type="datetimeFigureOut">
              <a:rPr lang="en-UZ" smtClean="0"/>
              <a:t>10/03/25</a:t>
            </a:fld>
            <a:endParaRPr lang="en-U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5C362F-5EAC-B2DC-BE3D-E0BB7A0D2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96211C-42B4-4D26-8540-4225F2A01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710185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E78DF8-E8AA-6383-0DCB-A062C6406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E210-D269-D54C-985C-31A732180E63}" type="datetimeFigureOut">
              <a:rPr lang="en-UZ" smtClean="0"/>
              <a:t>10/03/25</a:t>
            </a:fld>
            <a:endParaRPr lang="en-U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41DC97-7BCA-7111-08CC-818F75CBF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C96877-C017-59B5-8AFF-E50043DA0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766661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70B2C-94A2-C167-CAD8-D52725B8D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78BBF-9A08-907C-E2AB-8661F26F8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245D4E-932B-3D22-0AE3-6D41436D9B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413B62-6333-9DB2-0B98-84E283E19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E210-D269-D54C-985C-31A732180E63}" type="datetimeFigureOut">
              <a:rPr lang="en-UZ" smtClean="0"/>
              <a:t>10/03/25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EE42AE-83D4-8096-73AB-A014597D9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4B92B5-462F-E7A1-8431-E1DEE4F1D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919019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5F6F4-F299-A06B-6C09-9AB3A9598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03F738-E265-2B6D-6104-EF3E729769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D73AAD-EBA6-3B75-1D4F-B8D62B9996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623E73-48D8-3315-4120-03AEA3BC8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E210-D269-D54C-985C-31A732180E63}" type="datetimeFigureOut">
              <a:rPr lang="en-UZ" smtClean="0"/>
              <a:t>10/03/25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FE2E8D-13C9-1EA7-4BC6-428644409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8B6390-84CB-1F66-99C1-DCE586854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56962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BACC3-27AF-0FB8-0EA3-9A76ADE3D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D14C88-6EB1-7FB8-E3B0-0895E93138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BCE35A-4E04-D07C-98A8-1C4F5196D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E210-D269-D54C-985C-31A732180E63}" type="datetimeFigureOut">
              <a:rPr lang="en-UZ" smtClean="0"/>
              <a:t>10/03/25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1C4E5D-2D07-7593-19B1-CB5CF70F2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627350-4D22-1461-50DC-6AB6E25FC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405750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F7B575-BFDD-A423-5EB3-BDA4379FA7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1101C8-6051-4910-F8D6-C792B1DDF9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B96FB-0E14-8EB6-52BB-86A7F46A2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E210-D269-D54C-985C-31A732180E63}" type="datetimeFigureOut">
              <a:rPr lang="en-UZ" smtClean="0"/>
              <a:t>10/03/25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EECFAD-9F0B-FEBD-1B35-D4495B810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987CD3-0E58-3384-4A17-F8E729FCC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1103562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5EFAA7-8914-8527-A91B-6B624907ED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95E210-D269-D54C-985C-31A732180E63}" type="datetimeFigureOut">
              <a:rPr lang="en-UZ" smtClean="0"/>
              <a:t>10/03/25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9C820C-84A1-F40C-05DC-D695AD0077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Z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49C557-8E2C-A035-E602-AAF975BA69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  <p:pic>
        <p:nvPicPr>
          <p:cNvPr id="10" name="Picture 9" descr="A close-up of a logo&#10;&#10;Description automatically generated">
            <a:extLst>
              <a:ext uri="{FF2B5EF4-FFF2-40B4-BE49-F238E27FC236}">
                <a16:creationId xmlns:a16="http://schemas.microsoft.com/office/drawing/2014/main" id="{122ED645-059C-94BB-DD01-D000C5C1A6BA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8610600" y="136525"/>
            <a:ext cx="3222625" cy="856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949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01607-A900-1A69-33ED-99D7D46E16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04769"/>
            <a:ext cx="9144000" cy="1648461"/>
          </a:xfrm>
        </p:spPr>
        <p:txBody>
          <a:bodyPr/>
          <a:lstStyle/>
          <a:p>
            <a:r>
              <a:rPr lang="en-UZ" dirty="0"/>
              <a:t>Objects in JavaScript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4119B7-99F9-72C2-BCA0-9DE38446CC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00550" y="4996498"/>
            <a:ext cx="3390900" cy="455612"/>
          </a:xfrm>
        </p:spPr>
        <p:txBody>
          <a:bodyPr/>
          <a:lstStyle/>
          <a:p>
            <a:r>
              <a:rPr lang="en-UZ" dirty="0"/>
              <a:t>Mirzoulugbek Yusupov</a:t>
            </a:r>
          </a:p>
        </p:txBody>
      </p:sp>
    </p:spTree>
    <p:extLst>
      <p:ext uri="{BB962C8B-B14F-4D97-AF65-F5344CB8AC3E}">
        <p14:creationId xmlns:p14="http://schemas.microsoft.com/office/powerpoint/2010/main" val="38274698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4B19E-F392-B1DF-60F9-56725CFA0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Z" dirty="0">
                <a:latin typeface="Arial" panose="020B0604020202020204" pitchFamily="34" charset="0"/>
                <a:cs typeface="Arial" panose="020B0604020202020204" pitchFamily="34" charset="0"/>
              </a:rPr>
              <a:t>Objects in JavaScript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E660B9-D2C4-D760-8422-CA292FEE7374}"/>
              </a:ext>
            </a:extLst>
          </p:cNvPr>
          <p:cNvSpPr txBox="1"/>
          <p:nvPr/>
        </p:nvSpPr>
        <p:spPr>
          <a:xfrm>
            <a:off x="838200" y="1388656"/>
            <a:ext cx="9094470" cy="1287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 object is a collection of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key-value pairs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used to store structured data.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Objects are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mutable, reference-based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and allow dynamic properties.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Everything in JavaScript (except primitives) is an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object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 descr="A computer screen shot of a computer code&#10;&#10;Description automatically generated">
            <a:extLst>
              <a:ext uri="{FF2B5EF4-FFF2-40B4-BE49-F238E27FC236}">
                <a16:creationId xmlns:a16="http://schemas.microsoft.com/office/drawing/2014/main" id="{6EEA71ED-34DC-8298-18FD-8A47940EA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63444"/>
            <a:ext cx="8032145" cy="3629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168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7E5333F-3DA5-9FE4-3F0F-C869C619BE1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5501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Ways to Create Objects</a:t>
            </a:r>
            <a:endParaRPr lang="en-U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813ED4-3F99-033A-1592-85C9BF4161B1}"/>
              </a:ext>
            </a:extLst>
          </p:cNvPr>
          <p:cNvSpPr txBox="1"/>
          <p:nvPr/>
        </p:nvSpPr>
        <p:spPr>
          <a:xfrm>
            <a:off x="836296" y="1408837"/>
            <a:ext cx="52578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Object Literal ({})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Directly defines key-value pairs inside {}.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Does not use constructors or prototypes explicitly.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Useful for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static or single-instance objects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Best for creating simple object with pre-defined values</a:t>
            </a:r>
          </a:p>
        </p:txBody>
      </p:sp>
      <p:pic>
        <p:nvPicPr>
          <p:cNvPr id="9" name="Picture 8" descr="A computer screen shot of a program code&#10;&#10;Description automatically generated">
            <a:extLst>
              <a:ext uri="{FF2B5EF4-FFF2-40B4-BE49-F238E27FC236}">
                <a16:creationId xmlns:a16="http://schemas.microsoft.com/office/drawing/2014/main" id="{F1227948-A2D9-8795-A413-9E80A8EB56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485" y="3762881"/>
            <a:ext cx="4680584" cy="270433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AB39D0D-F495-E7E1-46B2-3977BEB077A5}"/>
              </a:ext>
            </a:extLst>
          </p:cNvPr>
          <p:cNvSpPr txBox="1"/>
          <p:nvPr/>
        </p:nvSpPr>
        <p:spPr>
          <a:xfrm>
            <a:off x="6094096" y="1408837"/>
            <a:ext cx="52578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2.  Using new Object()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Creates an object using JavaScript’s built-in Object constructor.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Equivalent to object literals but allows dynamic property assignment.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Best creating an empty object and populate it dynamically.</a:t>
            </a:r>
          </a:p>
        </p:txBody>
      </p:sp>
      <p:pic>
        <p:nvPicPr>
          <p:cNvPr id="13" name="Picture 12" descr="A computer code with colorful text&#10;&#10;Description automatically generated">
            <a:extLst>
              <a:ext uri="{FF2B5EF4-FFF2-40B4-BE49-F238E27FC236}">
                <a16:creationId xmlns:a16="http://schemas.microsoft.com/office/drawing/2014/main" id="{F3EA5DA3-8515-9AFA-320D-EFB593538A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7933" y="3762881"/>
            <a:ext cx="5053964" cy="2693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883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7E5333F-3DA5-9FE4-3F0F-C869C619BE1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5501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Ways to Create Objects</a:t>
            </a:r>
            <a:endParaRPr lang="en-U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813ED4-3F99-033A-1592-85C9BF4161B1}"/>
              </a:ext>
            </a:extLst>
          </p:cNvPr>
          <p:cNvSpPr txBox="1"/>
          <p:nvPr/>
        </p:nvSpPr>
        <p:spPr>
          <a:xfrm>
            <a:off x="838199" y="1408837"/>
            <a:ext cx="531673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3.  Factory Function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Uses a function that returns an object.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Creates multiple objects with similar properties and methods.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 need for new keyword.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Best when you need multiple similar objects without using classes.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B39D0D-F495-E7E1-46B2-3977BEB077A5}"/>
              </a:ext>
            </a:extLst>
          </p:cNvPr>
          <p:cNvSpPr txBox="1"/>
          <p:nvPr/>
        </p:nvSpPr>
        <p:spPr>
          <a:xfrm>
            <a:off x="6094096" y="1408837"/>
            <a:ext cx="52578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4.  Constructor Function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Uses a function and this to create objects.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Requires the new keyword.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Supports inheritance via prototype.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Best for creating multiple objects with similar structure and behavior.</a:t>
            </a:r>
          </a:p>
        </p:txBody>
      </p:sp>
      <p:pic>
        <p:nvPicPr>
          <p:cNvPr id="15" name="Picture 14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EBB04889-36F0-2630-69CC-E3C8CC9A48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94838"/>
            <a:ext cx="5271449" cy="2796324"/>
          </a:xfrm>
          <a:prstGeom prst="rect">
            <a:avLst/>
          </a:prstGeom>
        </p:spPr>
      </p:pic>
      <p:pic>
        <p:nvPicPr>
          <p:cNvPr id="19" name="Picture 18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A2E27883-06AE-62F4-14D8-B3C42EFD9A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7815" y="3784028"/>
            <a:ext cx="5526525" cy="248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873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7E5333F-3DA5-9FE4-3F0F-C869C619BE1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5501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Ways to Create Objects</a:t>
            </a:r>
            <a:endParaRPr lang="en-U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813ED4-3F99-033A-1592-85C9BF4161B1}"/>
              </a:ext>
            </a:extLst>
          </p:cNvPr>
          <p:cNvSpPr txBox="1"/>
          <p:nvPr/>
        </p:nvSpPr>
        <p:spPr>
          <a:xfrm>
            <a:off x="838199" y="1408837"/>
            <a:ext cx="531673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5.  Using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Object.create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(prototype)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Creates an object with an explicitly defined prototype.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Good for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prototype-based inheritance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When you want to create objects that inherit from a predefined prototype.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B39D0D-F495-E7E1-46B2-3977BEB077A5}"/>
              </a:ext>
            </a:extLst>
          </p:cNvPr>
          <p:cNvSpPr txBox="1"/>
          <p:nvPr/>
        </p:nvSpPr>
        <p:spPr>
          <a:xfrm>
            <a:off x="6094096" y="1408837"/>
            <a:ext cx="52578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6.  Using ES6 class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Modern way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to create objects.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Uses constructor for property initialization.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Supports inheritance using extends.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When you need a structured object-oriented approach.</a:t>
            </a:r>
          </a:p>
        </p:txBody>
      </p:sp>
      <p:pic>
        <p:nvPicPr>
          <p:cNvPr id="3" name="Picture 2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28E4EDB5-D1CE-40B9-6081-00291131EB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8" y="3360419"/>
            <a:ext cx="5255897" cy="3228031"/>
          </a:xfrm>
          <a:prstGeom prst="rect">
            <a:avLst/>
          </a:prstGeom>
        </p:spPr>
      </p:pic>
      <p:pic>
        <p:nvPicPr>
          <p:cNvPr id="6" name="Picture 5" descr="A computer screen shot of a code&#10;&#10;Description automatically generated">
            <a:extLst>
              <a:ext uri="{FF2B5EF4-FFF2-40B4-BE49-F238E27FC236}">
                <a16:creationId xmlns:a16="http://schemas.microsoft.com/office/drawing/2014/main" id="{73988DB9-6743-69E8-69DB-211C3776A8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9835" y="3360419"/>
            <a:ext cx="5255896" cy="3241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944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7E5333F-3DA5-9FE4-3F0F-C869C619BE1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5501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Ways to Create Objects</a:t>
            </a:r>
            <a:endParaRPr lang="en-U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813ED4-3F99-033A-1592-85C9BF4161B1}"/>
              </a:ext>
            </a:extLst>
          </p:cNvPr>
          <p:cNvSpPr txBox="1"/>
          <p:nvPr/>
        </p:nvSpPr>
        <p:spPr>
          <a:xfrm>
            <a:off x="838199" y="1408837"/>
            <a:ext cx="7962901" cy="1702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7.  Singleton Object (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Object.freeze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())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Creates a single instance that cannot be modified.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Prevents adding, removing, or modifying properties.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When defining global constants or configurations.</a:t>
            </a:r>
          </a:p>
        </p:txBody>
      </p:sp>
      <p:pic>
        <p:nvPicPr>
          <p:cNvPr id="5" name="Picture 4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D56C07F1-41DB-866A-24BC-73740BAF39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2423" y="3543300"/>
            <a:ext cx="6620158" cy="2111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041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EBB40-02A4-88AB-74F4-FE7366212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5015"/>
          </a:xfrm>
        </p:spPr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Comparison</a:t>
            </a:r>
            <a:endParaRPr lang="en-U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23A797F8-5FEF-ADA6-58F9-C4D41A765159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485476"/>
          <a:ext cx="10341928" cy="4812456"/>
        </p:xfrm>
        <a:graphic>
          <a:graphicData uri="http://schemas.openxmlformats.org/drawingml/2006/table">
            <a:tbl>
              <a:tblPr firstRow="1">
                <a:tableStyleId>{10A1B5D5-9B99-4C35-A422-299274C87663}</a:tableStyleId>
              </a:tblPr>
              <a:tblGrid>
                <a:gridCol w="2222818">
                  <a:extLst>
                    <a:ext uri="{9D8B030D-6E8A-4147-A177-3AD203B41FA5}">
                      <a16:colId xmlns:a16="http://schemas.microsoft.com/office/drawing/2014/main" val="2231164393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8539684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073351966"/>
                    </a:ext>
                  </a:extLst>
                </a:gridCol>
                <a:gridCol w="2807970">
                  <a:extLst>
                    <a:ext uri="{9D8B030D-6E8A-4147-A177-3AD203B41FA5}">
                      <a16:colId xmlns:a16="http://schemas.microsoft.com/office/drawing/2014/main" val="160849540"/>
                    </a:ext>
                  </a:extLst>
                </a:gridCol>
                <a:gridCol w="1398270">
                  <a:extLst>
                    <a:ext uri="{9D8B030D-6E8A-4147-A177-3AD203B41FA5}">
                      <a16:colId xmlns:a16="http://schemas.microsoft.com/office/drawing/2014/main" val="2573792221"/>
                    </a:ext>
                  </a:extLst>
                </a:gridCol>
              </a:tblGrid>
              <a:tr h="6015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Mutable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Performance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Syntax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Uses new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6642821"/>
                  </a:ext>
                </a:extLst>
              </a:tr>
              <a:tr h="60155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Object Literal ({})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Z" dirty="0"/>
                        <a:t>✅ </a:t>
                      </a:r>
                      <a:r>
                        <a:rPr lang="en-US" dirty="0"/>
                        <a:t>Yes</a:t>
                      </a:r>
                      <a:endParaRPr lang="en-UZ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⚡ Fastest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{ key: value }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Z" dirty="0"/>
                        <a:t>❌ </a:t>
                      </a:r>
                      <a:r>
                        <a:rPr lang="en-US" dirty="0"/>
                        <a:t>No</a:t>
                      </a:r>
                      <a:endParaRPr lang="en-UZ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7402590"/>
                  </a:ext>
                </a:extLst>
              </a:tr>
              <a:tr h="60155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new Object()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Z" dirty="0"/>
                        <a:t>✅ </a:t>
                      </a:r>
                      <a:r>
                        <a:rPr lang="en-US" dirty="0"/>
                        <a:t>Yes</a:t>
                      </a:r>
                      <a:endParaRPr lang="en-UZ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⚡ Fast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new Object()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Z" dirty="0"/>
                        <a:t>✅ </a:t>
                      </a:r>
                      <a:r>
                        <a:rPr lang="en-US" dirty="0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0686268"/>
                  </a:ext>
                </a:extLst>
              </a:tr>
              <a:tr h="601557"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/>
                        <a:t>Object.create</a:t>
                      </a:r>
                      <a:r>
                        <a:rPr lang="en-US" b="1" dirty="0"/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Z" dirty="0"/>
                        <a:t>✅ </a:t>
                      </a:r>
                      <a:r>
                        <a:rPr lang="en-US" dirty="0"/>
                        <a:t>Yes</a:t>
                      </a:r>
                      <a:endParaRPr lang="en-UZ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Z" dirty="0"/>
                        <a:t>🔄 </a:t>
                      </a:r>
                      <a:r>
                        <a:rPr lang="en-US" dirty="0"/>
                        <a:t>Mid</a:t>
                      </a:r>
                      <a:endParaRPr lang="en-UZ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</a:t>
                      </a:r>
                      <a:r>
                        <a:rPr lang="en-US" dirty="0" err="1"/>
                        <a:t>Object.create</a:t>
                      </a:r>
                      <a:r>
                        <a:rPr lang="en-US" dirty="0"/>
                        <a:t>(proto)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Z" dirty="0"/>
                        <a:t>❌ </a:t>
                      </a:r>
                      <a:r>
                        <a:rPr lang="en-US" dirty="0"/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3985196"/>
                  </a:ext>
                </a:extLst>
              </a:tr>
              <a:tr h="60155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Class (ES6)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Z" dirty="0"/>
                        <a:t>✅ </a:t>
                      </a:r>
                      <a:r>
                        <a:rPr lang="en-US" dirty="0"/>
                        <a:t>Yes</a:t>
                      </a:r>
                      <a:endParaRPr lang="en-UZ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Z" dirty="0"/>
                        <a:t>🚀 </a:t>
                      </a:r>
                      <a:r>
                        <a:rPr lang="en-US" dirty="0"/>
                        <a:t>Optimized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class </a:t>
                      </a:r>
                      <a:r>
                        <a:rPr lang="en-US" dirty="0" err="1"/>
                        <a:t>ClassName</a:t>
                      </a:r>
                      <a:r>
                        <a:rPr lang="en-US" dirty="0"/>
                        <a:t> {}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Z" dirty="0"/>
                        <a:t>✅ </a:t>
                      </a:r>
                      <a:r>
                        <a:rPr lang="en-US" dirty="0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6306442"/>
                  </a:ext>
                </a:extLst>
              </a:tr>
              <a:tr h="60155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Factory Function</a:t>
                      </a:r>
                      <a:endParaRPr lang="en-UZ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Z" dirty="0"/>
                        <a:t>✅ </a:t>
                      </a:r>
                      <a:r>
                        <a:rPr lang="en-US" dirty="0"/>
                        <a:t>Yes</a:t>
                      </a:r>
                      <a:endParaRPr lang="en-UZ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⚡ Fast </a:t>
                      </a:r>
                      <a:endParaRPr lang="en-UZ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function </a:t>
                      </a:r>
                      <a:r>
                        <a:rPr lang="en-US" dirty="0" err="1"/>
                        <a:t>createObj</a:t>
                      </a:r>
                      <a:r>
                        <a:rPr lang="en-US" dirty="0"/>
                        <a:t>() {}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Z" dirty="0"/>
                        <a:t>❌ </a:t>
                      </a:r>
                      <a:r>
                        <a:rPr lang="en-US" dirty="0"/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1121626"/>
                  </a:ext>
                </a:extLst>
              </a:tr>
              <a:tr h="601557"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/>
                        <a:t>Object.freeze</a:t>
                      </a:r>
                      <a:r>
                        <a:rPr lang="en-US" b="1" dirty="0"/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Z" dirty="0"/>
                        <a:t>✅ </a:t>
                      </a:r>
                      <a:r>
                        <a:rPr lang="en-US" dirty="0"/>
                        <a:t>Yes</a:t>
                      </a:r>
                      <a:endParaRPr lang="en-UZ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⚡ Fast </a:t>
                      </a:r>
                      <a:endParaRPr lang="en-UZ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function Constructor() {}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Z" dirty="0"/>
                        <a:t>❌ </a:t>
                      </a:r>
                      <a:r>
                        <a:rPr lang="en-US" dirty="0"/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7212034"/>
                  </a:ext>
                </a:extLst>
              </a:tr>
              <a:tr h="6015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Constructor Function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Z" dirty="0"/>
                        <a:t>❌ </a:t>
                      </a:r>
                      <a:r>
                        <a:rPr lang="en-US" dirty="0"/>
                        <a:t>No</a:t>
                      </a:r>
                      <a:endParaRPr lang="en-UZ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Z" dirty="0"/>
                        <a:t>🚀 </a:t>
                      </a:r>
                      <a:r>
                        <a:rPr lang="en-US" dirty="0"/>
                        <a:t>Optimized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</a:t>
                      </a:r>
                      <a:r>
                        <a:rPr lang="en-US" dirty="0" err="1"/>
                        <a:t>Object.freeze</a:t>
                      </a:r>
                      <a:r>
                        <a:rPr lang="en-US" dirty="0"/>
                        <a:t>(obj)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Z" dirty="0"/>
                        <a:t>✅ </a:t>
                      </a:r>
                      <a:r>
                        <a:rPr lang="en-US" dirty="0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96280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06454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9CBFD-C2A2-8E98-042E-82CE40D08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Object Properties &amp; Accessors</a:t>
            </a:r>
            <a:endParaRPr lang="en-U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791898-9DED-5958-6604-838561B5D8B7}"/>
              </a:ext>
            </a:extLst>
          </p:cNvPr>
          <p:cNvSpPr txBox="1"/>
          <p:nvPr/>
        </p:nvSpPr>
        <p:spPr>
          <a:xfrm>
            <a:off x="841058" y="1637754"/>
            <a:ext cx="60979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Dot Notation vs Bracket Notation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 descr="A close-up of text&#10;&#10;Description automatically generated">
            <a:extLst>
              <a:ext uri="{FF2B5EF4-FFF2-40B4-BE49-F238E27FC236}">
                <a16:creationId xmlns:a16="http://schemas.microsoft.com/office/drawing/2014/main" id="{59E9026A-5BF8-B22F-046F-6E1587DF0D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418" y="2037864"/>
            <a:ext cx="7439342" cy="1533703"/>
          </a:xfrm>
          <a:prstGeom prst="rect">
            <a:avLst/>
          </a:prstGeom>
        </p:spPr>
      </p:pic>
      <p:pic>
        <p:nvPicPr>
          <p:cNvPr id="9" name="Picture 8" descr="A close-up of a computer code&#10;&#10;Description automatically generated">
            <a:extLst>
              <a:ext uri="{FF2B5EF4-FFF2-40B4-BE49-F238E27FC236}">
                <a16:creationId xmlns:a16="http://schemas.microsoft.com/office/drawing/2014/main" id="{35629CDB-3EFE-1D00-458A-6C70216254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659" y="4624249"/>
            <a:ext cx="7421707" cy="153370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55EB1EB-A59F-6BFD-5506-6F3E4742E2A5}"/>
              </a:ext>
            </a:extLst>
          </p:cNvPr>
          <p:cNvSpPr txBox="1"/>
          <p:nvPr/>
        </p:nvSpPr>
        <p:spPr>
          <a:xfrm>
            <a:off x="839629" y="4224139"/>
            <a:ext cx="61007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Computed Properties</a:t>
            </a:r>
            <a:endParaRPr lang="en-UZ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9203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D924D-C2B1-30D0-F482-94F6C79C6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3453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Object Methods (Object.*)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33691792-D827-F281-D885-211BFE0BE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46207"/>
            <a:ext cx="10515600" cy="444675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969C478-DB04-15DD-C77E-7E18D2A2ADCE}"/>
              </a:ext>
            </a:extLst>
          </p:cNvPr>
          <p:cNvSpPr txBox="1"/>
          <p:nvPr/>
        </p:nvSpPr>
        <p:spPr>
          <a:xfrm>
            <a:off x="838200" y="1646097"/>
            <a:ext cx="60979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Common Methods and Usage</a:t>
            </a:r>
            <a:endParaRPr lang="en-UZ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92436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24FAF-388E-00AE-49B4-806A48FFF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6445"/>
          </a:xfrm>
        </p:spPr>
        <p:txBody>
          <a:bodyPr/>
          <a:lstStyle/>
          <a:p>
            <a:r>
              <a:rPr lang="en-UZ" dirty="0">
                <a:latin typeface="Arial" panose="020B0604020202020204" pitchFamily="34" charset="0"/>
                <a:cs typeface="Arial" panose="020B0604020202020204" pitchFamily="34" charset="0"/>
              </a:rPr>
              <a:t>Practice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3B5EE4-78EC-3CAE-2F7A-C7EC44460302}"/>
              </a:ext>
            </a:extLst>
          </p:cNvPr>
          <p:cNvSpPr txBox="1"/>
          <p:nvPr/>
        </p:nvSpPr>
        <p:spPr>
          <a:xfrm>
            <a:off x="838200" y="1347471"/>
            <a:ext cx="9144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Z" b="1" dirty="0">
                <a:latin typeface="Arial" panose="020B0604020202020204" pitchFamily="34" charset="0"/>
                <a:cs typeface="Arial" panose="020B0604020202020204" pitchFamily="34" charset="0"/>
              </a:rPr>
              <a:t>Challenge 1 </a:t>
            </a:r>
            <a:r>
              <a:rPr lang="en-UZ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Student Grade Management System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You have a list of students, each with their name and an array of scores.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Calculate the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average score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of each student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Determine if the student has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passed (avg ≥ 50)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Find the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top-performing student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37CB55E2-E792-8A3A-2710-C83AF0F6AE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270" y="4071294"/>
            <a:ext cx="6926580" cy="2535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4199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24FAF-388E-00AE-49B4-806A48FFF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6445"/>
          </a:xfrm>
        </p:spPr>
        <p:txBody>
          <a:bodyPr/>
          <a:lstStyle/>
          <a:p>
            <a:r>
              <a:rPr lang="en-UZ" dirty="0">
                <a:latin typeface="Arial" panose="020B0604020202020204" pitchFamily="34" charset="0"/>
                <a:cs typeface="Arial" panose="020B0604020202020204" pitchFamily="34" charset="0"/>
              </a:rPr>
              <a:t>Practice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3B5EE4-78EC-3CAE-2F7A-C7EC44460302}"/>
              </a:ext>
            </a:extLst>
          </p:cNvPr>
          <p:cNvSpPr txBox="1"/>
          <p:nvPr/>
        </p:nvSpPr>
        <p:spPr>
          <a:xfrm>
            <a:off x="838200" y="1348740"/>
            <a:ext cx="11266170" cy="19800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Z" b="1" dirty="0">
                <a:latin typeface="Arial" panose="020B0604020202020204" pitchFamily="34" charset="0"/>
                <a:cs typeface="Arial" panose="020B0604020202020204" pitchFamily="34" charset="0"/>
              </a:rPr>
              <a:t>Challenge 2 </a:t>
            </a:r>
            <a:r>
              <a:rPr lang="en-UZ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E-Commerce Cart System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You have an array of cart items where each item is an object containing id, name, price, and quantity.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Calculate the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total price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of all items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Apply a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10% discount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if total price is above $100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Find the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most expensive item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 descr="A screen shot of a computer&#10;&#10;Description automatically generated">
            <a:extLst>
              <a:ext uri="{FF2B5EF4-FFF2-40B4-BE49-F238E27FC236}">
                <a16:creationId xmlns:a16="http://schemas.microsoft.com/office/drawing/2014/main" id="{09643A01-F86F-6D84-7401-FF8EAC9C5C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705959"/>
            <a:ext cx="6774855" cy="2431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0570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24FAF-388E-00AE-49B4-806A48FFF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6445"/>
          </a:xfrm>
        </p:spPr>
        <p:txBody>
          <a:bodyPr/>
          <a:lstStyle/>
          <a:p>
            <a:r>
              <a:rPr lang="en-UZ" dirty="0">
                <a:latin typeface="Arial" panose="020B0604020202020204" pitchFamily="34" charset="0"/>
                <a:cs typeface="Arial" panose="020B0604020202020204" pitchFamily="34" charset="0"/>
              </a:rPr>
              <a:t>Practice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3B5EE4-78EC-3CAE-2F7A-C7EC44460302}"/>
              </a:ext>
            </a:extLst>
          </p:cNvPr>
          <p:cNvSpPr txBox="1"/>
          <p:nvPr/>
        </p:nvSpPr>
        <p:spPr>
          <a:xfrm>
            <a:off x="838200" y="1268730"/>
            <a:ext cx="11266170" cy="3277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Z" b="1" dirty="0">
                <a:latin typeface="Arial" panose="020B0604020202020204" pitchFamily="34" charset="0"/>
                <a:cs typeface="Arial" panose="020B0604020202020204" pitchFamily="34" charset="0"/>
              </a:rPr>
              <a:t>Challenge 3 </a:t>
            </a:r>
            <a:r>
              <a:rPr lang="en-UZ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Product Inventory Management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Create an array of product objects (each with id, name, price, and stock). 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Add a new product (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addProduct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Update stock of a product (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updateStock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Delete a product by ID (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deleteProduct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Find a product by name (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findProduct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Variation: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 higher-order functions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(map(), filter(), reduce())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 manipulate the product list.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 descr="A close-up of text&#10;&#10;Description automatically generated">
            <a:extLst>
              <a:ext uri="{FF2B5EF4-FFF2-40B4-BE49-F238E27FC236}">
                <a16:creationId xmlns:a16="http://schemas.microsoft.com/office/drawing/2014/main" id="{E7ADBD3E-3E8B-E861-BDE7-3CDF36211B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543157"/>
            <a:ext cx="7103763" cy="1772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8412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24FAF-388E-00AE-49B4-806A48FFF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6445"/>
          </a:xfrm>
        </p:spPr>
        <p:txBody>
          <a:bodyPr/>
          <a:lstStyle/>
          <a:p>
            <a:r>
              <a:rPr lang="en-UZ" dirty="0">
                <a:latin typeface="Arial" panose="020B0604020202020204" pitchFamily="34" charset="0"/>
                <a:cs typeface="Arial" panose="020B0604020202020204" pitchFamily="34" charset="0"/>
              </a:rPr>
              <a:t>Practice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3B5EE4-78EC-3CAE-2F7A-C7EC44460302}"/>
              </a:ext>
            </a:extLst>
          </p:cNvPr>
          <p:cNvSpPr txBox="1"/>
          <p:nvPr/>
        </p:nvSpPr>
        <p:spPr>
          <a:xfrm>
            <a:off x="838200" y="1268730"/>
            <a:ext cx="11266170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Z" b="1" dirty="0">
                <a:latin typeface="Arial" panose="020B0604020202020204" pitchFamily="34" charset="0"/>
                <a:cs typeface="Arial" panose="020B0604020202020204" pitchFamily="34" charset="0"/>
              </a:rPr>
              <a:t>Challenge 4 </a:t>
            </a:r>
            <a:r>
              <a:rPr lang="en-UZ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Social Media Post Analytics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Define an array of post objects, each with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author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likes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comments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shares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Implement a function to find the most liked post.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Implement a function to calculate total engagement (likes + comments + shares) for all posts.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Variation: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Store comments as an array of objects (with user and message).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 descr="A close-up of a white background&#10;&#10;Description automatically generated">
            <a:extLst>
              <a:ext uri="{FF2B5EF4-FFF2-40B4-BE49-F238E27FC236}">
                <a16:creationId xmlns:a16="http://schemas.microsoft.com/office/drawing/2014/main" id="{DA5FCCDD-2673-9001-F4DA-BE642DA803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852714"/>
            <a:ext cx="7778020" cy="1736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9135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24FAF-388E-00AE-49B4-806A48FFF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6445"/>
          </a:xfrm>
        </p:spPr>
        <p:txBody>
          <a:bodyPr/>
          <a:lstStyle/>
          <a:p>
            <a:r>
              <a:rPr lang="en-UZ" dirty="0">
                <a:latin typeface="Arial" panose="020B0604020202020204" pitchFamily="34" charset="0"/>
                <a:cs typeface="Arial" panose="020B0604020202020204" pitchFamily="34" charset="0"/>
              </a:rPr>
              <a:t>Practice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3B5EE4-78EC-3CAE-2F7A-C7EC44460302}"/>
              </a:ext>
            </a:extLst>
          </p:cNvPr>
          <p:cNvSpPr txBox="1"/>
          <p:nvPr/>
        </p:nvSpPr>
        <p:spPr>
          <a:xfrm>
            <a:off x="838200" y="1268730"/>
            <a:ext cx="11266170" cy="2130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Z" b="1" dirty="0">
                <a:latin typeface="Arial" panose="020B0604020202020204" pitchFamily="34" charset="0"/>
                <a:cs typeface="Arial" panose="020B0604020202020204" pitchFamily="34" charset="0"/>
              </a:rPr>
              <a:t>Challenge 5 </a:t>
            </a:r>
            <a:r>
              <a:rPr lang="en-UZ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Sports Tournament Leaderboard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Define an array of team objects, each with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name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wins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losses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points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Implement a function to sort teams by ranking.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Implement a function to find the best-performing team.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Variation: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Add goal statistics 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goalsScored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goalsConceded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</p:txBody>
      </p:sp>
      <p:pic>
        <p:nvPicPr>
          <p:cNvPr id="6" name="Picture 5" descr="A close-up of a white background&#10;&#10;Description automatically generated">
            <a:extLst>
              <a:ext uri="{FF2B5EF4-FFF2-40B4-BE49-F238E27FC236}">
                <a16:creationId xmlns:a16="http://schemas.microsoft.com/office/drawing/2014/main" id="{D2DEBC41-58A1-C709-6DD2-E5382013A2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777248"/>
            <a:ext cx="7425690" cy="1697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4434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24FAF-388E-00AE-49B4-806A48FFF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6445"/>
          </a:xfrm>
        </p:spPr>
        <p:txBody>
          <a:bodyPr/>
          <a:lstStyle/>
          <a:p>
            <a:r>
              <a:rPr lang="en-UZ" dirty="0">
                <a:latin typeface="Arial" panose="020B0604020202020204" pitchFamily="34" charset="0"/>
                <a:cs typeface="Arial" panose="020B0604020202020204" pitchFamily="34" charset="0"/>
              </a:rPr>
              <a:t>Practice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3B5EE4-78EC-3CAE-2F7A-C7EC44460302}"/>
              </a:ext>
            </a:extLst>
          </p:cNvPr>
          <p:cNvSpPr txBox="1"/>
          <p:nvPr/>
        </p:nvSpPr>
        <p:spPr>
          <a:xfrm>
            <a:off x="838200" y="1268730"/>
            <a:ext cx="11266170" cy="1715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Z" b="1" dirty="0">
                <a:latin typeface="Arial" panose="020B0604020202020204" pitchFamily="34" charset="0"/>
                <a:cs typeface="Arial" panose="020B0604020202020204" pitchFamily="34" charset="0"/>
              </a:rPr>
              <a:t>Challenge 6</a:t>
            </a:r>
            <a:r>
              <a:rPr lang="en-UZ" dirty="0"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Warehouse Stock Management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Create an array of inventory objects (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itemName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category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stock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Implement a function to calculate total stock per category.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Variation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Implement an alert system for low-stock items.</a:t>
            </a:r>
          </a:p>
        </p:txBody>
      </p:sp>
      <p:pic>
        <p:nvPicPr>
          <p:cNvPr id="5" name="Picture 4" descr="A computer code with text&#10;&#10;Description automatically generated">
            <a:extLst>
              <a:ext uri="{FF2B5EF4-FFF2-40B4-BE49-F238E27FC236}">
                <a16:creationId xmlns:a16="http://schemas.microsoft.com/office/drawing/2014/main" id="{FDF1DDE8-F9DE-73FA-1134-AE4EE28924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217545"/>
            <a:ext cx="6921500" cy="326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7700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8B9E7-11C8-0CA5-9560-452D5D20C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2182813"/>
            <a:ext cx="10180320" cy="2194878"/>
          </a:xfrm>
        </p:spPr>
        <p:txBody>
          <a:bodyPr/>
          <a:lstStyle/>
          <a:p>
            <a:pPr algn="ctr"/>
            <a:r>
              <a:rPr lang="en-UZ" sz="16600" dirty="0"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3659703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B018135E-CCF7-554B-B226-A40F1FABAD04}" vid="{5B8BADFA-BD7F-3441-A947-B975480A85C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73</TotalTime>
  <Words>768</Words>
  <Application>Microsoft Macintosh PowerPoint</Application>
  <PresentationFormat>Widescreen</PresentationFormat>
  <Paragraphs>126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Objects in JavaScript</vt:lpstr>
      <vt:lpstr>Objects in JavaScript</vt:lpstr>
      <vt:lpstr>PowerPoint Presentation</vt:lpstr>
      <vt:lpstr>PowerPoint Presentation</vt:lpstr>
      <vt:lpstr>PowerPoint Presentation</vt:lpstr>
      <vt:lpstr>PowerPoint Presentation</vt:lpstr>
      <vt:lpstr>Comparison</vt:lpstr>
      <vt:lpstr>Object Properties &amp; Accessors</vt:lpstr>
      <vt:lpstr>Object Methods (Object.*) </vt:lpstr>
      <vt:lpstr>Practice</vt:lpstr>
      <vt:lpstr>Practice</vt:lpstr>
      <vt:lpstr>Practice</vt:lpstr>
      <vt:lpstr>Practice</vt:lpstr>
      <vt:lpstr>Practice</vt:lpstr>
      <vt:lpstr>Practice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Objects in JavaScript</dc:title>
  <dc:creator>YUSUPOV MIRZOULUGBEK</dc:creator>
  <cp:lastModifiedBy>YUSUPOV MIRZOULUGBEK</cp:lastModifiedBy>
  <cp:revision>14</cp:revision>
  <dcterms:created xsi:type="dcterms:W3CDTF">2025-02-25T15:57:30Z</dcterms:created>
  <dcterms:modified xsi:type="dcterms:W3CDTF">2025-03-10T13:22:00Z</dcterms:modified>
</cp:coreProperties>
</file>