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3" r:id="rId6"/>
    <p:sldId id="264" r:id="rId7"/>
    <p:sldId id="267" r:id="rId8"/>
    <p:sldId id="266" r:id="rId9"/>
    <p:sldId id="268" r:id="rId10"/>
    <p:sldId id="265" r:id="rId11"/>
    <p:sldId id="269" r:id="rId12"/>
    <p:sldId id="270" r:id="rId13"/>
    <p:sldId id="277" r:id="rId14"/>
    <p:sldId id="276" r:id="rId15"/>
  </p:sldIdLst>
  <p:sldSz cx="12192000" cy="6858000"/>
  <p:notesSz cx="6858000" cy="9144000"/>
  <p:defaultTextStyle>
    <a:defPPr>
      <a:defRPr lang="en-U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1"/>
    <p:restoredTop sz="95840"/>
  </p:normalViewPr>
  <p:slideViewPr>
    <p:cSldViewPr snapToGrid="0">
      <p:cViewPr varScale="1">
        <p:scale>
          <a:sx n="112" d="100"/>
          <a:sy n="112" d="100"/>
        </p:scale>
        <p:origin x="57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C2EDDB-4AC0-27FB-4EA9-E64264A2D1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Z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B75810-866D-E389-78F0-F4F64418DF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D7AEA1-0CFA-0DF9-77BD-F784C005B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5E210-D269-D54C-985C-31A732180E63}" type="datetimeFigureOut">
              <a:rPr lang="en-UZ" smtClean="0"/>
              <a:t>14/02/25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542071-6737-A358-6ABF-2942E25EA1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DB7606-F20F-0BAD-9330-8799E148D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80A38-6FA2-0A48-8EDE-080FA32DB1EF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9694288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3010B6-9166-4D7D-5A46-9A01667E7B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7DDC87-6809-FCC2-6AEC-5891376F27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C139DC-791F-111F-E7EB-927FC109D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5E210-D269-D54C-985C-31A732180E63}" type="datetimeFigureOut">
              <a:rPr lang="en-UZ" smtClean="0"/>
              <a:t>14/02/25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B95834-D745-F262-5D51-DA52594CBB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2F7291-3321-7986-DC53-8FAA708C9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80A38-6FA2-0A48-8EDE-080FA32DB1EF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12241302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E0A42-830B-E54F-9554-9B6A879412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613B47-0672-51E5-C880-8784A93D09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016C90-A121-B950-45DE-C650806B07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5E210-D269-D54C-985C-31A732180E63}" type="datetimeFigureOut">
              <a:rPr lang="en-UZ" smtClean="0"/>
              <a:t>14/02/25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304404-379F-6391-C8B6-C2F1282F29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263C48-540C-5CC3-3D0E-655734C13B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80A38-6FA2-0A48-8EDE-080FA32DB1EF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24210676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D9CE5-271E-5EE4-D1B5-0886994399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96AE7D-2E8D-194A-A8E8-B4036EBD2C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9A4AD1-192E-89D8-A773-2B1906341D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1E93A2-037B-757E-9991-0759B77BC4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5E210-D269-D54C-985C-31A732180E63}" type="datetimeFigureOut">
              <a:rPr lang="en-UZ" smtClean="0"/>
              <a:t>14/02/25</a:t>
            </a:fld>
            <a:endParaRPr lang="en-U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05F9BC-30B6-71FD-32E3-51C8CF188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673C3A-7AD9-7E81-23A6-1920CD438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80A38-6FA2-0A48-8EDE-080FA32DB1EF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11196012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89DB1B-0CA4-2108-BFB6-CE0CA1D33B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59069D-8178-04F2-CACC-D62E10BF4D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51E179-B829-D26C-4864-D9CE34E1D2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0FD494-CBF9-A7E9-9423-3F9F705A67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288A331-E7D0-FA32-ACBD-F956CEBDF8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3ECC135-228E-F67B-C804-F9C504D4E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5E210-D269-D54C-985C-31A732180E63}" type="datetimeFigureOut">
              <a:rPr lang="en-UZ" smtClean="0"/>
              <a:t>14/02/25</a:t>
            </a:fld>
            <a:endParaRPr lang="en-UZ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E05FA9B-3525-2FE8-8187-6D69AC524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7DD6FE-E4ED-BF96-23BB-05DB203A4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80A38-6FA2-0A48-8EDE-080FA32DB1EF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25126229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0BE68-335C-2A00-C99A-95B80E787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F6DA29-43A2-F2F4-1272-4FE63C4F82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5E210-D269-D54C-985C-31A732180E63}" type="datetimeFigureOut">
              <a:rPr lang="en-UZ" smtClean="0"/>
              <a:t>14/02/25</a:t>
            </a:fld>
            <a:endParaRPr lang="en-UZ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5C362F-5EAC-B2DC-BE3D-E0BB7A0D22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96211C-42B4-4D26-8540-4225F2A018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80A38-6FA2-0A48-8EDE-080FA32DB1EF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3710185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E78DF8-E8AA-6383-0DCB-A062C64069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5E210-D269-D54C-985C-31A732180E63}" type="datetimeFigureOut">
              <a:rPr lang="en-UZ" smtClean="0"/>
              <a:t>14/02/25</a:t>
            </a:fld>
            <a:endParaRPr lang="en-UZ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41DC97-7BCA-7111-08CC-818F75CBF1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C96877-C017-59B5-8AFF-E50043DA0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80A38-6FA2-0A48-8EDE-080FA32DB1EF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27666615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70B2C-94A2-C167-CAD8-D52725B8DE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678BBF-9A08-907C-E2AB-8661F26F8E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245D4E-932B-3D22-0AE3-6D41436D9B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413B62-6333-9DB2-0B98-84E283E195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5E210-D269-D54C-985C-31A732180E63}" type="datetimeFigureOut">
              <a:rPr lang="en-UZ" smtClean="0"/>
              <a:t>14/02/25</a:t>
            </a:fld>
            <a:endParaRPr lang="en-U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EE42AE-83D4-8096-73AB-A014597D9C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4B92B5-462F-E7A1-8431-E1DEE4F1D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80A38-6FA2-0A48-8EDE-080FA32DB1EF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29190192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35F6F4-F299-A06B-6C09-9AB3A95986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03F738-E265-2B6D-6104-EF3E729769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D73AAD-EBA6-3B75-1D4F-B8D62B9996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623E73-48D8-3315-4120-03AEA3BC87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5E210-D269-D54C-985C-31A732180E63}" type="datetimeFigureOut">
              <a:rPr lang="en-UZ" smtClean="0"/>
              <a:t>14/02/25</a:t>
            </a:fld>
            <a:endParaRPr lang="en-U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FE2E8D-13C9-1EA7-4BC6-4286444096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8B6390-84CB-1F66-99C1-DCE586854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80A38-6FA2-0A48-8EDE-080FA32DB1EF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2569627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BACC3-27AF-0FB8-0EA3-9A76ADE3D4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D14C88-6EB1-7FB8-E3B0-0895E93138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BCE35A-4E04-D07C-98A8-1C4F5196D7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5E210-D269-D54C-985C-31A732180E63}" type="datetimeFigureOut">
              <a:rPr lang="en-UZ" smtClean="0"/>
              <a:t>14/02/25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1C4E5D-2D07-7593-19B1-CB5CF70F2C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627350-4D22-1461-50DC-6AB6E25FC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80A38-6FA2-0A48-8EDE-080FA32DB1EF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24057508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1F7B575-BFDD-A423-5EB3-BDA4379FA7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1101C8-6051-4910-F8D6-C792B1DDF9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AB96FB-0E14-8EB6-52BB-86A7F46A24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5E210-D269-D54C-985C-31A732180E63}" type="datetimeFigureOut">
              <a:rPr lang="en-UZ" smtClean="0"/>
              <a:t>14/02/25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EECFAD-9F0B-FEBD-1B35-D4495B810C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987CD3-0E58-3384-4A17-F8E729FCC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80A38-6FA2-0A48-8EDE-080FA32DB1EF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11035629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5EFAA7-8914-8527-A91B-6B624907ED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95E210-D269-D54C-985C-31A732180E63}" type="datetimeFigureOut">
              <a:rPr lang="en-UZ" smtClean="0"/>
              <a:t>14/02/25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9C820C-84A1-F40C-05DC-D695AD0077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Z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49C557-8E2C-A035-E602-AAF975BA69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C80A38-6FA2-0A48-8EDE-080FA32DB1EF}" type="slidenum">
              <a:rPr lang="en-UZ" smtClean="0"/>
              <a:t>‹#›</a:t>
            </a:fld>
            <a:endParaRPr lang="en-UZ"/>
          </a:p>
        </p:txBody>
      </p:sp>
      <p:pic>
        <p:nvPicPr>
          <p:cNvPr id="10" name="Picture 9" descr="A close-up of a logo&#10;&#10;Description automatically generated">
            <a:extLst>
              <a:ext uri="{FF2B5EF4-FFF2-40B4-BE49-F238E27FC236}">
                <a16:creationId xmlns:a16="http://schemas.microsoft.com/office/drawing/2014/main" id="{122ED645-059C-94BB-DD01-D000C5C1A6BA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8610600" y="136525"/>
            <a:ext cx="3222625" cy="856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99497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C01607-A900-1A69-33ED-99D7D46E16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604769"/>
            <a:ext cx="9144000" cy="1648461"/>
          </a:xfrm>
        </p:spPr>
        <p:txBody>
          <a:bodyPr/>
          <a:lstStyle/>
          <a:p>
            <a:r>
              <a:rPr lang="en-UZ" dirty="0"/>
              <a:t>Getting started with JavaScript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4119B7-99F9-72C2-BCA0-9DE38446CC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00550" y="4996498"/>
            <a:ext cx="3390900" cy="455612"/>
          </a:xfrm>
        </p:spPr>
        <p:txBody>
          <a:bodyPr/>
          <a:lstStyle/>
          <a:p>
            <a:r>
              <a:rPr lang="en-UZ" dirty="0"/>
              <a:t>Mirzoulugbek Yusupov</a:t>
            </a:r>
          </a:p>
        </p:txBody>
      </p:sp>
    </p:spTree>
    <p:extLst>
      <p:ext uri="{BB962C8B-B14F-4D97-AF65-F5344CB8AC3E}">
        <p14:creationId xmlns:p14="http://schemas.microsoft.com/office/powerpoint/2010/main" val="38274698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079BFBC-4A60-D386-B637-956DB17074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4431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What is ECMAScript (ES)?</a:t>
            </a:r>
            <a:endParaRPr lang="en-UZ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9734FF-7724-C896-720B-5FB4E5C6B588}"/>
              </a:ext>
            </a:extLst>
          </p:cNvPr>
          <p:cNvSpPr txBox="1"/>
          <p:nvPr/>
        </p:nvSpPr>
        <p:spPr>
          <a:xfrm>
            <a:off x="838199" y="2763132"/>
            <a:ext cx="10515598" cy="35325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First release: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1997 (ES1)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Major Versions: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ES5 (2009):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Added </a:t>
            </a: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strict mode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 JSON support.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ES6 (2015):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Introduced </a:t>
            </a: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let, const, arrow functions, classes, promises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 etc.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ES7 - ES2024: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Regular updates with new features.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ECMAScript defines rules, but JavaScript is the implementation!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082153F-2D60-A6DC-73D7-C04875696EF5}"/>
              </a:ext>
            </a:extLst>
          </p:cNvPr>
          <p:cNvSpPr txBox="1"/>
          <p:nvPr/>
        </p:nvSpPr>
        <p:spPr>
          <a:xfrm>
            <a:off x="838199" y="1378701"/>
            <a:ext cx="1051559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ECMAScript (ES)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is a 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standardized scripting language specification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maintained by 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ECMA International.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6F130DE-E707-ECC8-29EF-5F91710DD40F}"/>
              </a:ext>
            </a:extLst>
          </p:cNvPr>
          <p:cNvSpPr txBox="1"/>
          <p:nvPr/>
        </p:nvSpPr>
        <p:spPr>
          <a:xfrm>
            <a:off x="838199" y="2113033"/>
            <a:ext cx="105155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JavaScript follows ECMAScript standards to ensure compatibility across different environments.</a:t>
            </a:r>
          </a:p>
        </p:txBody>
      </p:sp>
    </p:spTree>
    <p:extLst>
      <p:ext uri="{BB962C8B-B14F-4D97-AF65-F5344CB8AC3E}">
        <p14:creationId xmlns:p14="http://schemas.microsoft.com/office/powerpoint/2010/main" val="4214990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BCE03-C509-E402-ACCA-3CBE3722F5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52475"/>
          </a:xfrm>
        </p:spPr>
        <p:txBody>
          <a:bodyPr>
            <a:norm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What is JavaScript?</a:t>
            </a:r>
            <a:endParaRPr lang="en-UZ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BC3BEC-15DA-64DB-0523-0D3D37DE24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453456"/>
            <a:ext cx="5181600" cy="1194777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Created by: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Brendan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Eich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in 1995.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Purpose: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Adds interactivity to web pages.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Runs on: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Browsers and servers (Node.js)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8DDC5E-43B4-2BE9-2429-2C793FC2E45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6023"/>
          <a:stretch/>
        </p:blipFill>
        <p:spPr>
          <a:xfrm>
            <a:off x="7944556" y="1482204"/>
            <a:ext cx="3200399" cy="2687590"/>
          </a:xfrm>
          <a:prstGeom prst="rect">
            <a:avLst/>
          </a:prstGeom>
          <a:noFill/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999FE7C-C2D8-271C-5D3A-93A6CD59DD63}"/>
              </a:ext>
            </a:extLst>
          </p:cNvPr>
          <p:cNvSpPr txBox="1"/>
          <p:nvPr/>
        </p:nvSpPr>
        <p:spPr>
          <a:xfrm>
            <a:off x="931333" y="1720151"/>
            <a:ext cx="50884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0" i="0" dirty="0">
                <a:solidFill>
                  <a:srgbClr val="40404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 high-level, interpreted programming language.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4B061A-230E-AAB1-5A5F-6B2169867FED}"/>
              </a:ext>
            </a:extLst>
          </p:cNvPr>
          <p:cNvSpPr txBox="1"/>
          <p:nvPr/>
        </p:nvSpPr>
        <p:spPr>
          <a:xfrm>
            <a:off x="838200" y="4448395"/>
            <a:ext cx="8012289" cy="17030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Interpreted &amp; Just-In-Time Compiled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(executes code line by line)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Dynamically Typed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(No need to declare variable types)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Prototype-Based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(Uses object prototypes instead of classes)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Single-Threaded but Asynchronous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(Uses event loops &amp; promises)</a:t>
            </a:r>
          </a:p>
        </p:txBody>
      </p:sp>
    </p:spTree>
    <p:extLst>
      <p:ext uri="{BB962C8B-B14F-4D97-AF65-F5344CB8AC3E}">
        <p14:creationId xmlns:p14="http://schemas.microsoft.com/office/powerpoint/2010/main" val="27348755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9C6A54-A604-518D-CCC0-A3D541BE5A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05719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JavaScript Engines</a:t>
            </a:r>
            <a:endParaRPr lang="en-UZ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DBD3ED-1189-2492-9B3D-A927A232CA53}"/>
              </a:ext>
            </a:extLst>
          </p:cNvPr>
          <p:cNvSpPr txBox="1"/>
          <p:nvPr/>
        </p:nvSpPr>
        <p:spPr>
          <a:xfrm>
            <a:off x="728133" y="1467583"/>
            <a:ext cx="10515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 JavaScript Engine is a program that interprets / converts JS code into machine code for execution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07D635E-2F19-2583-0CC8-9A0EFD72CD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8922" y="1999192"/>
            <a:ext cx="4454878" cy="461786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304FDD2-349A-9AB4-9978-342BE164EF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134" y="2607733"/>
            <a:ext cx="5835760" cy="3401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27846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05643F-6798-D333-0B35-29730F29A4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96031"/>
          </a:xfrm>
        </p:spPr>
        <p:txBody>
          <a:bodyPr/>
          <a:lstStyle/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ECMAScript, JavaScript &amp; JS Engines</a:t>
            </a:r>
            <a:endParaRPr lang="en-UZ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Content Placeholder 4" descr="A screenshot of a computer script&#10;&#10;Description automatically generated">
            <a:extLst>
              <a:ext uri="{FF2B5EF4-FFF2-40B4-BE49-F238E27FC236}">
                <a16:creationId xmlns:a16="http://schemas.microsoft.com/office/drawing/2014/main" id="{0A457260-116B-0E68-74DE-52DFAFDF493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536028"/>
            <a:ext cx="10515600" cy="4692000"/>
          </a:xfrm>
        </p:spPr>
      </p:pic>
    </p:spTree>
    <p:extLst>
      <p:ext uri="{BB962C8B-B14F-4D97-AF65-F5344CB8AC3E}">
        <p14:creationId xmlns:p14="http://schemas.microsoft.com/office/powerpoint/2010/main" val="5313206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13E5D7-CB76-5581-4539-5ADDAB6D7F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3575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Variables and Data Types</a:t>
            </a:r>
            <a:endParaRPr lang="en-UZ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Picture 8" descr="A diagram of a container&#10;&#10;Description automatically generated">
            <a:extLst>
              <a:ext uri="{FF2B5EF4-FFF2-40B4-BE49-F238E27FC236}">
                <a16:creationId xmlns:a16="http://schemas.microsoft.com/office/drawing/2014/main" id="{FF1EBE4A-F234-99D0-0398-30FA43E0DE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7680" y="2982852"/>
            <a:ext cx="4770440" cy="248892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6D326AF-258F-624E-5C12-9249922A25B1}"/>
              </a:ext>
            </a:extLst>
          </p:cNvPr>
          <p:cNvSpPr txBox="1"/>
          <p:nvPr/>
        </p:nvSpPr>
        <p:spPr>
          <a:xfrm>
            <a:off x="838200" y="1483435"/>
            <a:ext cx="50288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Variables are containers for storing data values.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524ABB8-8371-CE75-F774-28283124DAA0}"/>
              </a:ext>
            </a:extLst>
          </p:cNvPr>
          <p:cNvSpPr txBox="1"/>
          <p:nvPr/>
        </p:nvSpPr>
        <p:spPr>
          <a:xfrm>
            <a:off x="838200" y="3429000"/>
            <a:ext cx="6019480" cy="12875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var: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Function-scoped, can be re-declared and updated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let: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Block-scoped, cannot be re-declared.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const: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Block-scoped, cannot be re-assigned.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8CDED18-ACE8-2D4B-9C93-D1612F54DE3E}"/>
              </a:ext>
            </a:extLst>
          </p:cNvPr>
          <p:cNvSpPr txBox="1"/>
          <p:nvPr/>
        </p:nvSpPr>
        <p:spPr>
          <a:xfrm>
            <a:off x="838200" y="2113447"/>
            <a:ext cx="105025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In JavaScript, var, let, and const are used to declare variables, but they have key differences in terms of </a:t>
            </a:r>
            <a:r>
              <a:rPr lang="en-US" b="1" dirty="0"/>
              <a:t>scope</a:t>
            </a:r>
            <a:r>
              <a:rPr lang="en-US" dirty="0"/>
              <a:t>, </a:t>
            </a:r>
            <a:r>
              <a:rPr lang="en-US" b="1" dirty="0"/>
              <a:t>re-declaration</a:t>
            </a:r>
            <a:r>
              <a:rPr lang="en-US" dirty="0"/>
              <a:t>, and </a:t>
            </a:r>
            <a:r>
              <a:rPr lang="en-US" b="1" dirty="0"/>
              <a:t>mutation</a:t>
            </a:r>
            <a:r>
              <a:rPr lang="en-US" dirty="0"/>
              <a:t>.</a:t>
            </a:r>
            <a:endParaRPr lang="en-UZ" dirty="0"/>
          </a:p>
        </p:txBody>
      </p:sp>
    </p:spTree>
    <p:extLst>
      <p:ext uri="{BB962C8B-B14F-4D97-AF65-F5344CB8AC3E}">
        <p14:creationId xmlns:p14="http://schemas.microsoft.com/office/powerpoint/2010/main" val="28301963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F2598-5591-B528-6DCA-7B24581ABD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173980" cy="732155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var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vs </a:t>
            </a: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vs </a:t>
            </a: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const</a:t>
            </a:r>
            <a:endParaRPr lang="en-UZ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 descr="A white table with black text&#10;&#10;Description automatically generated">
            <a:extLst>
              <a:ext uri="{FF2B5EF4-FFF2-40B4-BE49-F238E27FC236}">
                <a16:creationId xmlns:a16="http://schemas.microsoft.com/office/drawing/2014/main" id="{CFEDD9B6-26A4-96A0-FC56-9E323B2F08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251500"/>
            <a:ext cx="8465820" cy="524137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74CB9F1C-A71E-F5BC-46E5-40FF4C971BFD}"/>
              </a:ext>
            </a:extLst>
          </p:cNvPr>
          <p:cNvSpPr txBox="1"/>
          <p:nvPr/>
        </p:nvSpPr>
        <p:spPr>
          <a:xfrm>
            <a:off x="9795510" y="4032021"/>
            <a:ext cx="585738" cy="1295547"/>
          </a:xfrm>
          <a:prstGeom prst="rect">
            <a:avLst/>
          </a:prstGeom>
          <a:noFill/>
        </p:spPr>
        <p:txBody>
          <a:bodyPr vert="wordArtVert" wrap="none" rtlCol="0">
            <a:spAutoFit/>
          </a:bodyPr>
          <a:lstStyle/>
          <a:p>
            <a:r>
              <a:rPr lang="en-UZ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TDZ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D490ABC-D329-CB10-B6EA-7F634B4059E4}"/>
              </a:ext>
            </a:extLst>
          </p:cNvPr>
          <p:cNvSpPr txBox="1"/>
          <p:nvPr/>
        </p:nvSpPr>
        <p:spPr>
          <a:xfrm>
            <a:off x="10111239" y="4126230"/>
            <a:ext cx="1082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Z" b="1" dirty="0">
                <a:latin typeface="Arial" panose="020B0604020202020204" pitchFamily="34" charset="0"/>
                <a:cs typeface="Arial" panose="020B0604020202020204" pitchFamily="34" charset="0"/>
              </a:rPr>
              <a:t>emporal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E3AF72C-3D89-9200-1C10-5BF39BD0EFC9}"/>
              </a:ext>
            </a:extLst>
          </p:cNvPr>
          <p:cNvSpPr txBox="1"/>
          <p:nvPr/>
        </p:nvSpPr>
        <p:spPr>
          <a:xfrm>
            <a:off x="10137849" y="4536241"/>
            <a:ext cx="582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Z" b="1" dirty="0">
                <a:latin typeface="Arial" panose="020B0604020202020204" pitchFamily="34" charset="0"/>
                <a:cs typeface="Arial" panose="020B0604020202020204" pitchFamily="34" charset="0"/>
              </a:rPr>
              <a:t>ead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6F14DBA-023B-C1B8-F965-D5F3EBE1940B}"/>
              </a:ext>
            </a:extLst>
          </p:cNvPr>
          <p:cNvSpPr txBox="1"/>
          <p:nvPr/>
        </p:nvSpPr>
        <p:spPr>
          <a:xfrm>
            <a:off x="10152058" y="4946252"/>
            <a:ext cx="5950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Z" b="1" dirty="0">
                <a:latin typeface="Arial" panose="020B0604020202020204" pitchFamily="34" charset="0"/>
                <a:cs typeface="Arial" panose="020B0604020202020204" pitchFamily="34" charset="0"/>
              </a:rPr>
              <a:t>one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45F78E3D-C786-34E2-88C5-890B6D862B83}"/>
              </a:ext>
            </a:extLst>
          </p:cNvPr>
          <p:cNvCxnSpPr>
            <a:cxnSpLocks/>
          </p:cNvCxnSpPr>
          <p:nvPr/>
        </p:nvCxnSpPr>
        <p:spPr>
          <a:xfrm>
            <a:off x="9292590" y="4674870"/>
            <a:ext cx="628650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09942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/>
      <p:bldP spid="1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0A8FC-9E4D-DD8F-167C-9DF963A2B5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52145"/>
          </a:xfrm>
        </p:spPr>
        <p:txBody>
          <a:bodyPr/>
          <a:lstStyle/>
          <a:p>
            <a:r>
              <a:rPr lang="en-UZ" dirty="0">
                <a:latin typeface="Arial" panose="020B0604020202020204" pitchFamily="34" charset="0"/>
                <a:cs typeface="Arial" panose="020B0604020202020204" pitchFamily="34" charset="0"/>
              </a:rPr>
              <a:t>Naming variables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D9EFCBF-8681-53F1-139D-016C8B6B5A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58934"/>
            <a:ext cx="5162550" cy="62243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5AF64E9-DAFE-5DDF-6DFC-04AF16495E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2" y="1679071"/>
            <a:ext cx="5162550" cy="602298"/>
          </a:xfrm>
          <a:prstGeom prst="rect">
            <a:avLst/>
          </a:prstGeom>
        </p:spPr>
      </p:pic>
      <p:pic>
        <p:nvPicPr>
          <p:cNvPr id="17" name="Picture 16" descr="A green rectangle with text&#10;&#10;Description automatically generated">
            <a:extLst>
              <a:ext uri="{FF2B5EF4-FFF2-40B4-BE49-F238E27FC236}">
                <a16:creationId xmlns:a16="http://schemas.microsoft.com/office/drawing/2014/main" id="{4ABB4F24-CB21-9090-DF44-48AE064F7D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2501481"/>
            <a:ext cx="5162550" cy="842118"/>
          </a:xfrm>
          <a:prstGeom prst="rect">
            <a:avLst/>
          </a:prstGeom>
        </p:spPr>
      </p:pic>
      <p:pic>
        <p:nvPicPr>
          <p:cNvPr id="18" name="Picture 17" descr="A green rectangle with text&#10;&#10;Description automatically generated">
            <a:extLst>
              <a:ext uri="{FF2B5EF4-FFF2-40B4-BE49-F238E27FC236}">
                <a16:creationId xmlns:a16="http://schemas.microsoft.com/office/drawing/2014/main" id="{68CFEE0E-A4BC-775C-1B60-C5F67A16E0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" y="3450266"/>
            <a:ext cx="5162550" cy="805504"/>
          </a:xfrm>
          <a:prstGeom prst="rect">
            <a:avLst/>
          </a:prstGeom>
        </p:spPr>
      </p:pic>
      <p:pic>
        <p:nvPicPr>
          <p:cNvPr id="19" name="Picture 18" descr="A green rectangle with text&#10;&#10;Description automatically generated">
            <a:extLst>
              <a:ext uri="{FF2B5EF4-FFF2-40B4-BE49-F238E27FC236}">
                <a16:creationId xmlns:a16="http://schemas.microsoft.com/office/drawing/2014/main" id="{A319518C-FFBB-40DE-B248-4490B88377B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200" y="5282965"/>
            <a:ext cx="5162550" cy="83188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E17919DD-7D7F-81C3-C844-F0366DB894B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8200" y="4362437"/>
            <a:ext cx="5162550" cy="813861"/>
          </a:xfrm>
          <a:prstGeom prst="rect">
            <a:avLst/>
          </a:prstGeom>
        </p:spPr>
      </p:pic>
      <p:pic>
        <p:nvPicPr>
          <p:cNvPr id="21" name="Picture 20" descr="A pink rectangle with red text&#10;&#10;Description automatically generated">
            <a:extLst>
              <a:ext uri="{FF2B5EF4-FFF2-40B4-BE49-F238E27FC236}">
                <a16:creationId xmlns:a16="http://schemas.microsoft.com/office/drawing/2014/main" id="{E46C9FDB-0175-6F7F-B3AD-A2473AC431E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1250" y="2500729"/>
            <a:ext cx="5162548" cy="822139"/>
          </a:xfrm>
          <a:prstGeom prst="rect">
            <a:avLst/>
          </a:prstGeom>
        </p:spPr>
      </p:pic>
      <p:pic>
        <p:nvPicPr>
          <p:cNvPr id="22" name="Picture 21" descr="A pink rectangle with red text&#10;&#10;Description automatically generated">
            <a:extLst>
              <a:ext uri="{FF2B5EF4-FFF2-40B4-BE49-F238E27FC236}">
                <a16:creationId xmlns:a16="http://schemas.microsoft.com/office/drawing/2014/main" id="{49736643-CE27-47E5-2EF4-6CC38F8890E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91250" y="3450266"/>
            <a:ext cx="5162548" cy="810049"/>
          </a:xfrm>
          <a:prstGeom prst="rect">
            <a:avLst/>
          </a:prstGeom>
        </p:spPr>
      </p:pic>
      <p:pic>
        <p:nvPicPr>
          <p:cNvPr id="23" name="Picture 22" descr="A red rectangle with a circle&#10;&#10;Description automatically generated">
            <a:extLst>
              <a:ext uri="{FF2B5EF4-FFF2-40B4-BE49-F238E27FC236}">
                <a16:creationId xmlns:a16="http://schemas.microsoft.com/office/drawing/2014/main" id="{34834ECB-25DC-D328-C97D-F162F4F32EF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65851" y="4387713"/>
            <a:ext cx="5186729" cy="810049"/>
          </a:xfrm>
          <a:prstGeom prst="rect">
            <a:avLst/>
          </a:prstGeom>
        </p:spPr>
      </p:pic>
      <p:pic>
        <p:nvPicPr>
          <p:cNvPr id="24" name="Picture 23" descr="A pink rectangular object with a red border&#10;&#10;Description automatically generated">
            <a:extLst>
              <a:ext uri="{FF2B5EF4-FFF2-40B4-BE49-F238E27FC236}">
                <a16:creationId xmlns:a16="http://schemas.microsoft.com/office/drawing/2014/main" id="{FBFAC8EC-0346-DB9A-8566-D5C550120A8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65850" y="5292706"/>
            <a:ext cx="5186729" cy="822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1684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E76F5E-02EC-EF85-1BF8-40C885BABF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832226" cy="646138"/>
          </a:xfrm>
        </p:spPr>
        <p:txBody>
          <a:bodyPr/>
          <a:lstStyle/>
          <a:p>
            <a:r>
              <a:rPr lang="en-UZ" dirty="0">
                <a:latin typeface="Arial" panose="020B0604020202020204" pitchFamily="34" charset="0"/>
                <a:cs typeface="Arial" panose="020B0604020202020204" pitchFamily="34" charset="0"/>
              </a:rPr>
              <a:t>Primitive vs Reference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44723E2D-A117-D3B0-42C1-03635FE57E15}"/>
              </a:ext>
            </a:extLst>
          </p:cNvPr>
          <p:cNvSpPr/>
          <p:nvPr/>
        </p:nvSpPr>
        <p:spPr>
          <a:xfrm>
            <a:off x="5241426" y="1435116"/>
            <a:ext cx="1906859" cy="758283"/>
          </a:xfrm>
          <a:prstGeom prst="roundRect">
            <a:avLst/>
          </a:prstGeom>
          <a:solidFill>
            <a:srgbClr val="002060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Z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B25651D4-AF6B-618B-6E86-889BD0429A9C}"/>
              </a:ext>
            </a:extLst>
          </p:cNvPr>
          <p:cNvSpPr/>
          <p:nvPr/>
        </p:nvSpPr>
        <p:spPr>
          <a:xfrm>
            <a:off x="2492650" y="2739750"/>
            <a:ext cx="1906859" cy="758283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Z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BE064420-0EE2-51CB-430E-F398E1690914}"/>
              </a:ext>
            </a:extLst>
          </p:cNvPr>
          <p:cNvSpPr/>
          <p:nvPr/>
        </p:nvSpPr>
        <p:spPr>
          <a:xfrm>
            <a:off x="8443684" y="2736219"/>
            <a:ext cx="1906859" cy="758283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Z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F068D851-39C1-9CED-8151-733982A92648}"/>
              </a:ext>
            </a:extLst>
          </p:cNvPr>
          <p:cNvSpPr/>
          <p:nvPr/>
        </p:nvSpPr>
        <p:spPr>
          <a:xfrm>
            <a:off x="585791" y="4171486"/>
            <a:ext cx="1453377" cy="665086"/>
          </a:xfrm>
          <a:prstGeom prst="roundRect">
            <a:avLst/>
          </a:prstGeom>
          <a:solidFill>
            <a:srgbClr val="00B050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Z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D5E5F79F-16E9-0AF4-59EF-7CDEC7815103}"/>
              </a:ext>
            </a:extLst>
          </p:cNvPr>
          <p:cNvSpPr/>
          <p:nvPr/>
        </p:nvSpPr>
        <p:spPr>
          <a:xfrm>
            <a:off x="2719391" y="4171486"/>
            <a:ext cx="1453377" cy="665086"/>
          </a:xfrm>
          <a:prstGeom prst="roundRect">
            <a:avLst/>
          </a:prstGeom>
          <a:solidFill>
            <a:srgbClr val="00B050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Z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B447A7EC-253C-85D8-A833-0D4E22E64575}"/>
              </a:ext>
            </a:extLst>
          </p:cNvPr>
          <p:cNvSpPr/>
          <p:nvPr/>
        </p:nvSpPr>
        <p:spPr>
          <a:xfrm>
            <a:off x="4741478" y="4171486"/>
            <a:ext cx="1453377" cy="665086"/>
          </a:xfrm>
          <a:prstGeom prst="roundRect">
            <a:avLst/>
          </a:prstGeom>
          <a:solidFill>
            <a:srgbClr val="00B050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Z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1089BC5B-B38F-C65F-A2CB-AFB257423D2A}"/>
              </a:ext>
            </a:extLst>
          </p:cNvPr>
          <p:cNvSpPr/>
          <p:nvPr/>
        </p:nvSpPr>
        <p:spPr>
          <a:xfrm>
            <a:off x="1312479" y="5553362"/>
            <a:ext cx="1453377" cy="665086"/>
          </a:xfrm>
          <a:prstGeom prst="roundRect">
            <a:avLst/>
          </a:prstGeom>
          <a:solidFill>
            <a:srgbClr val="00B050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Z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488D43FF-BEDA-9E43-2AA7-3B489CCC056C}"/>
              </a:ext>
            </a:extLst>
          </p:cNvPr>
          <p:cNvSpPr/>
          <p:nvPr/>
        </p:nvSpPr>
        <p:spPr>
          <a:xfrm>
            <a:off x="4018504" y="5553362"/>
            <a:ext cx="1453377" cy="665086"/>
          </a:xfrm>
          <a:prstGeom prst="roundRect">
            <a:avLst/>
          </a:prstGeom>
          <a:solidFill>
            <a:srgbClr val="00B050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Z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EC265FCA-FAD3-4A3A-8113-1C392F037D2C}"/>
              </a:ext>
            </a:extLst>
          </p:cNvPr>
          <p:cNvSpPr/>
          <p:nvPr/>
        </p:nvSpPr>
        <p:spPr>
          <a:xfrm>
            <a:off x="9946527" y="4171486"/>
            <a:ext cx="1453377" cy="665086"/>
          </a:xfrm>
          <a:prstGeom prst="roundRect">
            <a:avLst/>
          </a:prstGeom>
          <a:solidFill>
            <a:srgbClr val="00B050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Z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5ED4C0D4-6D90-0BC0-9DE3-13AE2AD3E708}"/>
              </a:ext>
            </a:extLst>
          </p:cNvPr>
          <p:cNvSpPr/>
          <p:nvPr/>
        </p:nvSpPr>
        <p:spPr>
          <a:xfrm>
            <a:off x="7192247" y="4165136"/>
            <a:ext cx="1453377" cy="665086"/>
          </a:xfrm>
          <a:prstGeom prst="roundRect">
            <a:avLst/>
          </a:prstGeom>
          <a:solidFill>
            <a:srgbClr val="00B050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Z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41341795-D014-2F8A-3E04-3064291F80E4}"/>
              </a:ext>
            </a:extLst>
          </p:cNvPr>
          <p:cNvSpPr/>
          <p:nvPr/>
        </p:nvSpPr>
        <p:spPr>
          <a:xfrm>
            <a:off x="8670426" y="5507206"/>
            <a:ext cx="1453377" cy="665086"/>
          </a:xfrm>
          <a:prstGeom prst="roundRect">
            <a:avLst/>
          </a:prstGeom>
          <a:solidFill>
            <a:srgbClr val="00B050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Z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4" name="Elbow Connector 23">
            <a:extLst>
              <a:ext uri="{FF2B5EF4-FFF2-40B4-BE49-F238E27FC236}">
                <a16:creationId xmlns:a16="http://schemas.microsoft.com/office/drawing/2014/main" id="{8F673327-E874-B239-2A70-C1E83739587A}"/>
              </a:ext>
            </a:extLst>
          </p:cNvPr>
          <p:cNvCxnSpPr>
            <a:stCxn id="7" idx="1"/>
            <a:endCxn id="8" idx="0"/>
          </p:cNvCxnSpPr>
          <p:nvPr/>
        </p:nvCxnSpPr>
        <p:spPr>
          <a:xfrm rot="10800000" flipV="1">
            <a:off x="3446080" y="1814258"/>
            <a:ext cx="1795346" cy="925492"/>
          </a:xfrm>
          <a:prstGeom prst="bentConnector2">
            <a:avLst/>
          </a:prstGeom>
          <a:ln w="127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Elbow Connector 25">
            <a:extLst>
              <a:ext uri="{FF2B5EF4-FFF2-40B4-BE49-F238E27FC236}">
                <a16:creationId xmlns:a16="http://schemas.microsoft.com/office/drawing/2014/main" id="{8C744286-D766-2459-63A9-1DA7618F3D42}"/>
              </a:ext>
            </a:extLst>
          </p:cNvPr>
          <p:cNvCxnSpPr>
            <a:stCxn id="7" idx="3"/>
            <a:endCxn id="9" idx="0"/>
          </p:cNvCxnSpPr>
          <p:nvPr/>
        </p:nvCxnSpPr>
        <p:spPr>
          <a:xfrm>
            <a:off x="7148285" y="1814258"/>
            <a:ext cx="2248829" cy="921961"/>
          </a:xfrm>
          <a:prstGeom prst="bentConnector2">
            <a:avLst/>
          </a:prstGeom>
          <a:ln w="127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Elbow Connector 29">
            <a:extLst>
              <a:ext uri="{FF2B5EF4-FFF2-40B4-BE49-F238E27FC236}">
                <a16:creationId xmlns:a16="http://schemas.microsoft.com/office/drawing/2014/main" id="{6A8831AE-829B-1840-63BD-0F66825BA8E9}"/>
              </a:ext>
            </a:extLst>
          </p:cNvPr>
          <p:cNvCxnSpPr>
            <a:stCxn id="10" idx="0"/>
            <a:endCxn id="12" idx="0"/>
          </p:cNvCxnSpPr>
          <p:nvPr/>
        </p:nvCxnSpPr>
        <p:spPr>
          <a:xfrm rot="5400000" flipH="1" flipV="1">
            <a:off x="3390323" y="2093643"/>
            <a:ext cx="12700" cy="4155687"/>
          </a:xfrm>
          <a:prstGeom prst="bentConnector3">
            <a:avLst>
              <a:gd name="adj1" fmla="val 1800000"/>
            </a:avLst>
          </a:prstGeom>
          <a:ln w="12700">
            <a:solidFill>
              <a:srgbClr val="00206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8C5143A2-5088-35C4-E57E-0FC872546E7C}"/>
              </a:ext>
            </a:extLst>
          </p:cNvPr>
          <p:cNvCxnSpPr>
            <a:cxnSpLocks/>
          </p:cNvCxnSpPr>
          <p:nvPr/>
        </p:nvCxnSpPr>
        <p:spPr>
          <a:xfrm>
            <a:off x="3440504" y="3950383"/>
            <a:ext cx="0" cy="249316"/>
          </a:xfrm>
          <a:prstGeom prst="straightConnector1">
            <a:avLst/>
          </a:prstGeom>
          <a:ln w="127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3D27D9F4-A16A-D766-3F62-E74CA8DFDFFB}"/>
              </a:ext>
            </a:extLst>
          </p:cNvPr>
          <p:cNvCxnSpPr>
            <a:cxnSpLocks/>
          </p:cNvCxnSpPr>
          <p:nvPr/>
        </p:nvCxnSpPr>
        <p:spPr>
          <a:xfrm>
            <a:off x="3440504" y="3498033"/>
            <a:ext cx="0" cy="452350"/>
          </a:xfrm>
          <a:prstGeom prst="straightConnector1">
            <a:avLst/>
          </a:prstGeom>
          <a:ln w="127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CEA55D02-2A83-42AD-E4D5-A3B29685CD77}"/>
              </a:ext>
            </a:extLst>
          </p:cNvPr>
          <p:cNvCxnSpPr>
            <a:cxnSpLocks/>
          </p:cNvCxnSpPr>
          <p:nvPr/>
        </p:nvCxnSpPr>
        <p:spPr>
          <a:xfrm>
            <a:off x="2384856" y="3950383"/>
            <a:ext cx="0" cy="1602979"/>
          </a:xfrm>
          <a:prstGeom prst="straightConnector1">
            <a:avLst/>
          </a:prstGeom>
          <a:ln w="127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58602FB8-3A2B-A063-760C-31FF834A49B5}"/>
              </a:ext>
            </a:extLst>
          </p:cNvPr>
          <p:cNvCxnSpPr>
            <a:cxnSpLocks/>
          </p:cNvCxnSpPr>
          <p:nvPr/>
        </p:nvCxnSpPr>
        <p:spPr>
          <a:xfrm>
            <a:off x="4506732" y="3950383"/>
            <a:ext cx="0" cy="1602979"/>
          </a:xfrm>
          <a:prstGeom prst="straightConnector1">
            <a:avLst/>
          </a:prstGeom>
          <a:ln w="127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447B9A08-ACC1-BEEA-CA38-0D2EFFE8455E}"/>
              </a:ext>
            </a:extLst>
          </p:cNvPr>
          <p:cNvCxnSpPr>
            <a:cxnSpLocks/>
          </p:cNvCxnSpPr>
          <p:nvPr/>
        </p:nvCxnSpPr>
        <p:spPr>
          <a:xfrm>
            <a:off x="9391538" y="3511962"/>
            <a:ext cx="5576" cy="424137"/>
          </a:xfrm>
          <a:prstGeom prst="straightConnector1">
            <a:avLst/>
          </a:prstGeom>
          <a:ln w="127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Elbow Connector 59">
            <a:extLst>
              <a:ext uri="{FF2B5EF4-FFF2-40B4-BE49-F238E27FC236}">
                <a16:creationId xmlns:a16="http://schemas.microsoft.com/office/drawing/2014/main" id="{6DEA6641-C029-BBDC-084D-3A65819119D6}"/>
              </a:ext>
            </a:extLst>
          </p:cNvPr>
          <p:cNvCxnSpPr>
            <a:cxnSpLocks/>
          </p:cNvCxnSpPr>
          <p:nvPr/>
        </p:nvCxnSpPr>
        <p:spPr>
          <a:xfrm rot="16200000" flipH="1">
            <a:off x="9292901" y="2799963"/>
            <a:ext cx="6350" cy="2754280"/>
          </a:xfrm>
          <a:prstGeom prst="bentConnector3">
            <a:avLst>
              <a:gd name="adj1" fmla="val -3600000"/>
            </a:avLst>
          </a:prstGeom>
          <a:ln w="12700">
            <a:solidFill>
              <a:srgbClr val="00206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4AB6212F-A735-7FBB-D7DE-0918DAE0FF94}"/>
              </a:ext>
            </a:extLst>
          </p:cNvPr>
          <p:cNvCxnSpPr>
            <a:cxnSpLocks/>
          </p:cNvCxnSpPr>
          <p:nvPr/>
        </p:nvCxnSpPr>
        <p:spPr>
          <a:xfrm>
            <a:off x="9400329" y="3936462"/>
            <a:ext cx="0" cy="1585036"/>
          </a:xfrm>
          <a:prstGeom prst="straightConnector1">
            <a:avLst/>
          </a:prstGeom>
          <a:ln w="127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4E33780A-41B7-C94A-9041-25B4AE5DF6C3}"/>
              </a:ext>
            </a:extLst>
          </p:cNvPr>
          <p:cNvSpPr txBox="1"/>
          <p:nvPr/>
        </p:nvSpPr>
        <p:spPr>
          <a:xfrm>
            <a:off x="5495529" y="1629591"/>
            <a:ext cx="13986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Z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Types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E5D7E7C5-5659-18D5-0728-E52A79D694A4}"/>
              </a:ext>
            </a:extLst>
          </p:cNvPr>
          <p:cNvSpPr txBox="1"/>
          <p:nvPr/>
        </p:nvSpPr>
        <p:spPr>
          <a:xfrm>
            <a:off x="2874179" y="2930244"/>
            <a:ext cx="1159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Z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Primitive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09A4EF9-67C2-B109-7DA2-58572B06524C}"/>
              </a:ext>
            </a:extLst>
          </p:cNvPr>
          <p:cNvSpPr txBox="1"/>
          <p:nvPr/>
        </p:nvSpPr>
        <p:spPr>
          <a:xfrm>
            <a:off x="8778727" y="2932912"/>
            <a:ext cx="13003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Z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Reference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512D888-9B9C-BCD7-A25E-CFBFBA46FBEB}"/>
              </a:ext>
            </a:extLst>
          </p:cNvPr>
          <p:cNvSpPr txBox="1"/>
          <p:nvPr/>
        </p:nvSpPr>
        <p:spPr>
          <a:xfrm>
            <a:off x="691088" y="4296292"/>
            <a:ext cx="1184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Z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Numbers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7D6994B-5654-5717-8D83-EEB0F97E002B}"/>
              </a:ext>
            </a:extLst>
          </p:cNvPr>
          <p:cNvSpPr txBox="1"/>
          <p:nvPr/>
        </p:nvSpPr>
        <p:spPr>
          <a:xfrm>
            <a:off x="2955917" y="4289244"/>
            <a:ext cx="9797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Z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Strings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9DBC6BD5-303A-599A-A208-EC8C1E3EF82E}"/>
              </a:ext>
            </a:extLst>
          </p:cNvPr>
          <p:cNvSpPr txBox="1"/>
          <p:nvPr/>
        </p:nvSpPr>
        <p:spPr>
          <a:xfrm>
            <a:off x="4956539" y="4296292"/>
            <a:ext cx="1095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Z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Boolean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01E8E63B-660A-86A7-98C2-9FF6F803BC17}"/>
              </a:ext>
            </a:extLst>
          </p:cNvPr>
          <p:cNvSpPr txBox="1"/>
          <p:nvPr/>
        </p:nvSpPr>
        <p:spPr>
          <a:xfrm>
            <a:off x="1758481" y="5701239"/>
            <a:ext cx="620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Z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Null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A01F4FED-CF0D-78E5-7511-F76D30516CE3}"/>
              </a:ext>
            </a:extLst>
          </p:cNvPr>
          <p:cNvSpPr txBox="1"/>
          <p:nvPr/>
        </p:nvSpPr>
        <p:spPr>
          <a:xfrm>
            <a:off x="4089691" y="5694738"/>
            <a:ext cx="13131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Z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Undefined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9414DEFC-E2E8-2091-6602-98F9135C845C}"/>
              </a:ext>
            </a:extLst>
          </p:cNvPr>
          <p:cNvSpPr txBox="1"/>
          <p:nvPr/>
        </p:nvSpPr>
        <p:spPr>
          <a:xfrm>
            <a:off x="7359251" y="4287451"/>
            <a:ext cx="10310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Z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Objects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6BF9A723-3C95-2771-C34C-F98C375DE79E}"/>
              </a:ext>
            </a:extLst>
          </p:cNvPr>
          <p:cNvSpPr txBox="1"/>
          <p:nvPr/>
        </p:nvSpPr>
        <p:spPr>
          <a:xfrm>
            <a:off x="10029449" y="4289744"/>
            <a:ext cx="12875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Z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Functions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C134A560-D1FF-682F-AAC2-98280F6B952F}"/>
              </a:ext>
            </a:extLst>
          </p:cNvPr>
          <p:cNvSpPr txBox="1"/>
          <p:nvPr/>
        </p:nvSpPr>
        <p:spPr>
          <a:xfrm>
            <a:off x="8933720" y="5639935"/>
            <a:ext cx="9156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Z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Arrays</a:t>
            </a:r>
          </a:p>
        </p:txBody>
      </p:sp>
    </p:spTree>
    <p:extLst>
      <p:ext uri="{BB962C8B-B14F-4D97-AF65-F5344CB8AC3E}">
        <p14:creationId xmlns:p14="http://schemas.microsoft.com/office/powerpoint/2010/main" val="30189873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65" grpId="0"/>
      <p:bldP spid="66" grpId="0"/>
      <p:bldP spid="67" grpId="0"/>
      <p:bldP spid="68" grpId="0"/>
      <p:bldP spid="69" grpId="0"/>
      <p:bldP spid="70" grpId="0"/>
      <p:bldP spid="71" grpId="0"/>
      <p:bldP spid="72" grpId="0"/>
      <p:bldP spid="73" grpId="0"/>
      <p:bldP spid="7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61CDF8-4B31-7BDA-99D3-14E575C3EF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45259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Coercion and Conversion</a:t>
            </a:r>
            <a:endParaRPr lang="en-UZ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BB63CA2-56D1-4CEB-B794-1CA8720E0A2A}"/>
              </a:ext>
            </a:extLst>
          </p:cNvPr>
          <p:cNvSpPr txBox="1"/>
          <p:nvPr/>
        </p:nvSpPr>
        <p:spPr>
          <a:xfrm>
            <a:off x="838200" y="1387383"/>
            <a:ext cx="52578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Type Coercion (Implicit Conversion)</a:t>
            </a:r>
          </a:p>
          <a:p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Type coercion happens automatically when JavaScript converts a value from one type to another during operations.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46CED56-F164-D5B6-97D1-14E5EF4CCD8F}"/>
              </a:ext>
            </a:extLst>
          </p:cNvPr>
          <p:cNvSpPr txBox="1"/>
          <p:nvPr/>
        </p:nvSpPr>
        <p:spPr>
          <a:xfrm>
            <a:off x="838200" y="3609223"/>
            <a:ext cx="75285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+ prefers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string concatenation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converting numbers to strings.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-, *, and / prefer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numeric operations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converting strings to numbers.</a:t>
            </a:r>
            <a:endParaRPr lang="en-UZ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2DFF69D-1F44-6F82-C25B-A24D21697BF7}"/>
              </a:ext>
            </a:extLst>
          </p:cNvPr>
          <p:cNvSpPr txBox="1"/>
          <p:nvPr/>
        </p:nvSpPr>
        <p:spPr>
          <a:xfrm>
            <a:off x="6096000" y="1387383"/>
            <a:ext cx="52578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Type Conversion (Explicit Conversion)</a:t>
            </a:r>
          </a:p>
          <a:p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Type conversion is when you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manually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change a data type using JavaScript functions.</a:t>
            </a:r>
          </a:p>
        </p:txBody>
      </p:sp>
    </p:spTree>
    <p:extLst>
      <p:ext uri="{BB962C8B-B14F-4D97-AF65-F5344CB8AC3E}">
        <p14:creationId xmlns:p14="http://schemas.microsoft.com/office/powerpoint/2010/main" val="27912524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E4A166-1A01-12A0-64CB-965B33C875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562600" cy="594995"/>
          </a:xfrm>
        </p:spPr>
        <p:txBody>
          <a:bodyPr/>
          <a:lstStyle/>
          <a:p>
            <a:r>
              <a:rPr lang="en-UZ" dirty="0">
                <a:latin typeface="Arial" panose="020B0604020202020204" pitchFamily="34" charset="0"/>
                <a:cs typeface="Arial" panose="020B0604020202020204" pitchFamily="34" charset="0"/>
              </a:rPr>
              <a:t>Practice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79AADB2-C3C9-986D-C5F8-8D2AB5ABDFEC}"/>
              </a:ext>
            </a:extLst>
          </p:cNvPr>
          <p:cNvSpPr txBox="1"/>
          <p:nvPr/>
        </p:nvSpPr>
        <p:spPr>
          <a:xfrm>
            <a:off x="838200" y="4527922"/>
            <a:ext cx="847725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Challenge 2: Type Conversion Practice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Convert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the string "200" into a number and add 50.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Convert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the number 25 into a string and concatenate " years old".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Check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if the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boolean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value of "false" (a string) is true or false.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Find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the result of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console.log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("10" - true) and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explain why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F11BEA7-4E50-764F-04A8-570535EE1C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74732"/>
            <a:ext cx="3785870" cy="245096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B18ADC6-9A96-4FBB-68DC-6392917993DB}"/>
              </a:ext>
            </a:extLst>
          </p:cNvPr>
          <p:cNvSpPr txBox="1"/>
          <p:nvPr/>
        </p:nvSpPr>
        <p:spPr>
          <a:xfrm>
            <a:off x="838200" y="1303179"/>
            <a:ext cx="61007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Challenge 1: Type Coercion Mystery</a:t>
            </a:r>
          </a:p>
        </p:txBody>
      </p:sp>
    </p:spTree>
    <p:extLst>
      <p:ext uri="{BB962C8B-B14F-4D97-AF65-F5344CB8AC3E}">
        <p14:creationId xmlns:p14="http://schemas.microsoft.com/office/powerpoint/2010/main" val="26479399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B83B3-1CC0-DC59-C81A-DCC273CE09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Z" dirty="0">
                <a:latin typeface="Arial" panose="020B0604020202020204" pitchFamily="34" charset="0"/>
                <a:cs typeface="Arial" panose="020B0604020202020204" pitchFamily="34" charset="0"/>
              </a:rPr>
              <a:t>Practice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28E45A8-36E9-478E-A7D6-7D246818BC68}"/>
              </a:ext>
            </a:extLst>
          </p:cNvPr>
          <p:cNvSpPr txBox="1"/>
          <p:nvPr/>
        </p:nvSpPr>
        <p:spPr>
          <a:xfrm>
            <a:off x="838200" y="1701166"/>
            <a:ext cx="1009554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Challenge 3: Temperature Converter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Declare a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const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for a temperature in Celsius.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Convert it to Fahrenheit using: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F=(C×9/5)+32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Print both Celsius and Fahrenheit temperatures.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Check: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What happens if you try to change the const value?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Bonus: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Take the Celsius value from user input instead of a fixed number.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E4DF5E0-2E1C-8D73-EB2F-1D7BF25877A5}"/>
              </a:ext>
            </a:extLst>
          </p:cNvPr>
          <p:cNvSpPr txBox="1"/>
          <p:nvPr/>
        </p:nvSpPr>
        <p:spPr>
          <a:xfrm>
            <a:off x="838200" y="4040416"/>
            <a:ext cx="9572149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Challenge 4: Budget Calculator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Declare a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let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variable for your total budget.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Use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prompt()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to take the budget as input. Convert it to a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number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Take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three expenses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as inputs (all strings), then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convert them to numbers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Subtract expenses from the budget and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check if the budget is negative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Print a warning if the user has overspent.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Bonus: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Format the output so it always shows two decimal places.</a:t>
            </a:r>
          </a:p>
        </p:txBody>
      </p:sp>
    </p:spTree>
    <p:extLst>
      <p:ext uri="{BB962C8B-B14F-4D97-AF65-F5344CB8AC3E}">
        <p14:creationId xmlns:p14="http://schemas.microsoft.com/office/powerpoint/2010/main" val="70440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BDA764-CFA0-31AF-6235-A10F5A3E60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Z" dirty="0">
                <a:latin typeface="Arial" panose="020B0604020202020204" pitchFamily="34" charset="0"/>
                <a:cs typeface="Arial" panose="020B0604020202020204" pitchFamily="34" charset="0"/>
              </a:rPr>
              <a:t>Practice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06BE01-EC8A-91F7-92D7-546268D71F67}"/>
              </a:ext>
            </a:extLst>
          </p:cNvPr>
          <p:cNvSpPr txBox="1"/>
          <p:nvPr/>
        </p:nvSpPr>
        <p:spPr>
          <a:xfrm>
            <a:off x="838199" y="1265078"/>
            <a:ext cx="56997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Challenge 5: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Logical Coercion Trickery</a:t>
            </a:r>
            <a:endParaRPr lang="en-UZ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 descr="A computer code with many different colored text&#10;&#10;Description automatically generated with medium confidence">
            <a:extLst>
              <a:ext uri="{FF2B5EF4-FFF2-40B4-BE49-F238E27FC236}">
                <a16:creationId xmlns:a16="http://schemas.microsoft.com/office/drawing/2014/main" id="{CC08C9CC-EFBA-8737-A6C4-3FD6B7BA8F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1752282"/>
            <a:ext cx="5126418" cy="183673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2BC939C-42CB-F817-A473-E2C061D5C05D}"/>
              </a:ext>
            </a:extLst>
          </p:cNvPr>
          <p:cNvSpPr txBox="1"/>
          <p:nvPr/>
        </p:nvSpPr>
        <p:spPr>
          <a:xfrm>
            <a:off x="831530" y="3735190"/>
            <a:ext cx="51231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Challenge 6: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Convert Values Properly</a:t>
            </a:r>
          </a:p>
        </p:txBody>
      </p:sp>
      <p:pic>
        <p:nvPicPr>
          <p:cNvPr id="11" name="Picture 10" descr="A screenshot of a computer&#10;&#10;Description automatically generated">
            <a:extLst>
              <a:ext uri="{FF2B5EF4-FFF2-40B4-BE49-F238E27FC236}">
                <a16:creationId xmlns:a16="http://schemas.microsoft.com/office/drawing/2014/main" id="{736CB7D7-4F26-EE5F-4112-3430075E4A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530" y="4104522"/>
            <a:ext cx="5123180" cy="247162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0CBD237-8BB2-662C-F3D9-2FD6F0B65153}"/>
              </a:ext>
            </a:extLst>
          </p:cNvPr>
          <p:cNvSpPr txBox="1"/>
          <p:nvPr/>
        </p:nvSpPr>
        <p:spPr>
          <a:xfrm>
            <a:off x="6237292" y="4878670"/>
            <a:ext cx="466692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Task:</a:t>
            </a:r>
            <a:r>
              <a:rPr lang="en-US" dirty="0"/>
              <a:t> Modify the code so that sum contains the </a:t>
            </a:r>
            <a:r>
              <a:rPr lang="en-US" b="1" dirty="0"/>
              <a:t>correct numerical total</a:t>
            </a:r>
            <a:r>
              <a:rPr lang="en-US" dirty="0"/>
              <a:t> instead of string concatenation or unexpected results.</a:t>
            </a:r>
            <a:endParaRPr lang="en-UZ" dirty="0"/>
          </a:p>
        </p:txBody>
      </p:sp>
    </p:spTree>
    <p:extLst>
      <p:ext uri="{BB962C8B-B14F-4D97-AF65-F5344CB8AC3E}">
        <p14:creationId xmlns:p14="http://schemas.microsoft.com/office/powerpoint/2010/main" val="35259508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8B9E7-11C8-0CA5-9560-452D5D20CC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40" y="2182813"/>
            <a:ext cx="10180320" cy="2194878"/>
          </a:xfrm>
        </p:spPr>
        <p:txBody>
          <a:bodyPr/>
          <a:lstStyle/>
          <a:p>
            <a:pPr algn="ctr"/>
            <a:r>
              <a:rPr lang="en-UZ" sz="16600" dirty="0"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3659703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B018135E-CCF7-554B-B226-A40F1FABAD04}" vid="{5B8BADFA-BD7F-3441-A947-B975480A85C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1640</TotalTime>
  <Words>615</Words>
  <Application>Microsoft Macintosh PowerPoint</Application>
  <PresentationFormat>Widescreen</PresentationFormat>
  <Paragraphs>83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 Theme</vt:lpstr>
      <vt:lpstr>Getting started with JavaScript</vt:lpstr>
      <vt:lpstr>What is ECMAScript (ES)?</vt:lpstr>
      <vt:lpstr>What is JavaScript?</vt:lpstr>
      <vt:lpstr>JavaScript Engines</vt:lpstr>
      <vt:lpstr>ECMAScript, JavaScript &amp; JS Engines</vt:lpstr>
      <vt:lpstr>Variables and Data Types</vt:lpstr>
      <vt:lpstr>var vs let vs const</vt:lpstr>
      <vt:lpstr>Naming variables</vt:lpstr>
      <vt:lpstr>Primitive vs Reference</vt:lpstr>
      <vt:lpstr>Coercion and Conversion</vt:lpstr>
      <vt:lpstr>Practice</vt:lpstr>
      <vt:lpstr>Practice</vt:lpstr>
      <vt:lpstr>Practice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Getting started with JavaScript</dc:title>
  <dc:creator>YUSUPOV MIRZOULUGBEK</dc:creator>
  <cp:lastModifiedBy>YUSUPOV MIRZOULUGBEK</cp:lastModifiedBy>
  <cp:revision>11</cp:revision>
  <dcterms:created xsi:type="dcterms:W3CDTF">2025-02-10T09:20:47Z</dcterms:created>
  <dcterms:modified xsi:type="dcterms:W3CDTF">2025-02-14T06:33:17Z</dcterms:modified>
</cp:coreProperties>
</file>